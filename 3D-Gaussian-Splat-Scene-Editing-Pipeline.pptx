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embeddedFontLst>
    <p:embeddedFont>
      <p:font typeface="Bitter SemiBold"/>
      <p:regular r:id="rId201314"/>
    </p:embeddedFont>
    <p:embeddedFont>
      <p:font typeface="Bitter Thin"/>
      <p:regular r:id="rId201315"/>
    </p:embeddedFont>
    <p:embeddedFont>
      <p:font typeface="Bitter ExtraLight"/>
      <p:regular r:id="rId201316"/>
    </p:embeddedFont>
    <p:embeddedFont>
      <p:font typeface="Bitter Light"/>
      <p:regular r:id="rId201317"/>
    </p:embeddedFont>
    <p:embeddedFont>
      <p:font typeface="Bitter"/>
      <p:regular r:id="rId201318"/>
    </p:embeddedFont>
    <p:embeddedFont>
      <p:font typeface="Bitter Medium"/>
      <p:regular r:id="rId201319"/>
    </p:embeddedFont>
    <p:embeddedFont>
      <p:font typeface="Bitter Bold"/>
      <p:regular r:id="rId201320"/>
    </p:embeddedFont>
    <p:embeddedFont>
      <p:font typeface="Bitter ExtraBold"/>
      <p:regular r:id="rId201321"/>
    </p:embeddedFont>
    <p:embeddedFont>
      <p:font typeface="Bitter Black"/>
      <p:regular r:id="rId201322"/>
    </p:embeddedFont>
    <p:embeddedFont>
      <p:font typeface="Open Sans Light"/>
      <p:regular r:id="rId201323"/>
    </p:embeddedFont>
    <p:embeddedFont>
      <p:font typeface="Open Sans Bold"/>
      <p:regular r:id="rId201324"/>
    </p:embeddedFont>
    <p:embeddedFont>
      <p:font typeface="Open Sans"/>
      <p:regular r:id="rId201325"/>
    </p:embeddedFont>
    <p:embeddedFont>
      <p:font typeface="Open Sans Medium"/>
      <p:regular r:id="rId201326"/>
    </p:embeddedFont>
    <p:embeddedFont>
      <p:font typeface="Open Sans SemiBold"/>
      <p:regular r:id="rId201327"/>
    </p:embeddedFont>
    <p:embeddedFont>
      <p:font typeface="Open Sans ExtraBold"/>
      <p:regular r:id="rId201328"/>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 Id="rId201321" Target="fonts/201321.fntdata" Type="http://schemas.openxmlformats.org/officeDocument/2006/relationships/font"/><Relationship Id="rId201322" Target="fonts/201322.fntdata" Type="http://schemas.openxmlformats.org/officeDocument/2006/relationships/font"/><Relationship Id="rId201323" Target="fonts/201323.fntdata" Type="http://schemas.openxmlformats.org/officeDocument/2006/relationships/font"/><Relationship Id="rId201324" Target="fonts/201324.fntdata" Type="http://schemas.openxmlformats.org/officeDocument/2006/relationships/font"/><Relationship Id="rId201325" Target="fonts/201325.fntdata" Type="http://schemas.openxmlformats.org/officeDocument/2006/relationships/font"/><Relationship Id="rId201326" Target="fonts/201326.fntdata" Type="http://schemas.openxmlformats.org/officeDocument/2006/relationships/font"/><Relationship Id="rId201327" Target="fonts/201327.fntdata" Type="http://schemas.openxmlformats.org/officeDocument/2006/relationships/font"/><Relationship Id="rId201328" Target="fonts/201328.fntdata" Type="http://schemas.openxmlformats.org/officeDocument/2006/relationships/font"/><Relationship Id="rId201329" Target="fonts/201329.fntdata" Type="http://schemas.openxmlformats.org/officeDocument/2006/relationships/font"/><Relationship Id="rId201330" Target="fonts/201330.fntdata" Type="http://schemas.openxmlformats.org/officeDocument/2006/relationships/font"/><Relationship Id="rId201331" Target="fonts/201331.fntdata" Type="http://schemas.openxmlformats.org/officeDocument/2006/relationships/font"/><Relationship Id="rId201332" Target="fonts/201332.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AABCB6"/>
          </a:solidFill>
          <a:ln/>
        </p:spPr>
      </p:sp>
      <p:sp>
        <p:nvSpPr>
          <p:cNvPr id="3" name="Shape 1"/>
          <p:cNvSpPr/>
          <p:nvPr/>
        </p:nvSpPr>
        <p:spPr>
          <a:xfrm>
            <a:off x="0" y="0"/>
            <a:ext cx="9144000" cy="5143500"/>
          </a:xfrm>
          <a:prstGeom prst="rect">
            <a:avLst/>
          </a:prstGeom>
          <a:solidFill>
            <a:srgbClr val="FFF8F0"/>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1.png"/><Relationship Id="rId4" Type="http://schemas.openxmlformats.org/officeDocument/2006/relationships/image" Target="../media/image-4-2.svg"/><Relationship Id="rId5" Type="http://schemas.openxmlformats.org/officeDocument/2006/relationships/image" Target="../media/image-4-1.png"/><Relationship Id="rId6" Type="http://schemas.openxmlformats.org/officeDocument/2006/relationships/image" Target="../media/image-4-2.svg"/><Relationship Id="rId7" Type="http://schemas.openxmlformats.org/officeDocument/2006/relationships/image" Target="../media/image-4-1.png"/><Relationship Id="rId8" Type="http://schemas.openxmlformats.org/officeDocument/2006/relationships/image" Target="../media/image-4-2.svg"/><Relationship Id="rId9" Type="http://schemas.openxmlformats.org/officeDocument/2006/relationships/image" Target="../media/image-4-1.png"/><Relationship Id="rId10" Type="http://schemas.openxmlformats.org/officeDocument/2006/relationships/image" Target="../media/image-4-2.svg"/><Relationship Id="rId11" Type="http://schemas.openxmlformats.org/officeDocument/2006/relationships/image" Target="../media/image-4-11.png"/><Relationship Id="rId12" Type="http://schemas.openxmlformats.org/officeDocument/2006/relationships/image" Target="../media/image-4-12.svg"/><Relationship Id="rId13" Type="http://schemas.openxmlformats.org/officeDocument/2006/relationships/image" Target="../media/image-4-11.png"/><Relationship Id="rId14" Type="http://schemas.openxmlformats.org/officeDocument/2006/relationships/image" Target="../media/image-4-12.svg"/><Relationship Id="rId15" Type="http://schemas.openxmlformats.org/officeDocument/2006/relationships/image" Target="../media/image-4-11.png"/><Relationship Id="rId16" Type="http://schemas.openxmlformats.org/officeDocument/2006/relationships/image" Target="../media/image-4-12.svg"/><Relationship Id="rId17" Type="http://schemas.openxmlformats.org/officeDocument/2006/relationships/image" Target="../media/image-4-17.png"/><Relationship Id="rId18" Type="http://schemas.openxmlformats.org/officeDocument/2006/relationships/slideLayout" Target="../slideLayouts/slideLayout2.xml"/><Relationship Id="rId1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1.png"/><Relationship Id="rId4" Type="http://schemas.openxmlformats.org/officeDocument/2006/relationships/image" Target="../media/image-10-2.sv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image" Target="../media/image-10-5.png"/><Relationship Id="rId8" Type="http://schemas.openxmlformats.org/officeDocument/2006/relationships/image" Target="../media/image-10-6.svg"/><Relationship Id="rId9" Type="http://schemas.openxmlformats.org/officeDocument/2006/relationships/image" Target="../media/image-10-9.png"/><Relationship Id="rId10" Type="http://schemas.openxmlformats.org/officeDocument/2006/relationships/slideLayout" Target="../slideLayouts/slideLayout2.xml"/><Relationship Id="rId11"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3429000" cy="5143500"/>
          </a:xfrm>
          <a:prstGeom prst="rect">
            <a:avLst/>
          </a:prstGeom>
        </p:spPr>
      </p:pic>
      <p:sp>
        <p:nvSpPr>
          <p:cNvPr id="3" name="Text 0"/>
          <p:cNvSpPr/>
          <p:nvPr/>
        </p:nvSpPr>
        <p:spPr>
          <a:xfrm>
            <a:off x="3925119" y="1694259"/>
            <a:ext cx="4722763" cy="775097"/>
          </a:xfrm>
          <a:prstGeom prst="rect">
            <a:avLst/>
          </a:prstGeom>
          <a:noFill/>
          <a:ln/>
        </p:spPr>
        <p:txBody>
          <a:bodyPr wrap="square" lIns="0" tIns="0" rIns="0" bIns="0" rtlCol="0" anchor="t">
            <a:normAutofit/>
          </a:bodyPr>
          <a:lstStyle/>
          <a:p>
            <a:pPr algn="l" indent="0" marL="0">
              <a:lnSpc>
                <a:spcPct val="104000"/>
              </a:lnSpc>
              <a:buNone/>
            </a:pPr>
            <a:r>
              <a:rPr lang="en-US" sz="2400" dirty="0">
                <a:solidFill>
                  <a:srgbClr val="2C3F42"/>
                </a:solidFill>
                <a:latin typeface="Bitter Medium" pitchFamily="34" charset="0"/>
                <a:ea typeface="Bitter Medium" pitchFamily="34" charset="-122"/>
                <a:cs typeface="Bitter Medium" pitchFamily="34" charset="-120"/>
              </a:rPr>
              <a:t>3D Gaussian Splat Scene Editing Pipeline</a:t>
            </a:r>
            <a:endParaRPr lang="en-US" sz="2400" dirty="0"/>
          </a:p>
        </p:txBody>
      </p:sp>
      <p:sp>
        <p:nvSpPr>
          <p:cNvPr id="4" name="Text 1"/>
          <p:cNvSpPr/>
          <p:nvPr/>
        </p:nvSpPr>
        <p:spPr>
          <a:xfrm>
            <a:off x="3925119" y="2655391"/>
            <a:ext cx="4722763" cy="793849"/>
          </a:xfrm>
          <a:prstGeom prst="rect">
            <a:avLst/>
          </a:prstGeom>
          <a:noFill/>
          <a:ln/>
        </p:spPr>
        <p:txBody>
          <a:bodyPr wrap="square" lIns="0" tIns="0" rIns="0" bIns="0" rtlCol="0" anchor="t">
            <a:normAutofit/>
          </a:bodyPr>
          <a:lstStyle/>
          <a:p>
            <a:pPr algn="l" indent="0" marL="0">
              <a:lnSpc>
                <a:spcPct val="133000"/>
              </a:lnSpc>
              <a:buNone/>
            </a:pPr>
            <a:r>
              <a:rPr lang="en-US" sz="950" dirty="0">
                <a:solidFill>
                  <a:srgbClr val="2B2E3C"/>
                </a:solidFill>
                <a:latin typeface="Open Sans" pitchFamily="34" charset="0"/>
                <a:ea typeface="Open Sans" pitchFamily="34" charset="-122"/>
                <a:cs typeface="Open Sans" pitchFamily="34" charset="-120"/>
              </a:rPr>
              <a:t>A comprehensive, end-to-end system for acquiring, segmenting, editing, and exporting 3D Gaussian Splat scenes. This pipeline bridges the gap between raw 3D scan data and interactive, non-destructive scene manipulation — preserving full Gaussian attribute fidelity throughout every stage of processing.</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341114"/>
            <a:ext cx="8151763" cy="193849"/>
          </a:xfrm>
          <a:prstGeom prst="rect">
            <a:avLst/>
          </a:prstGeom>
          <a:noFill/>
          <a:ln/>
        </p:spPr>
        <p:txBody>
          <a:bodyPr wrap="none" lIns="0" tIns="0" rIns="0" bIns="0" rtlCol="0" anchor="t"/>
          <a:lstStyle/>
          <a:p>
            <a:pPr algn="l" indent="0" marL="0">
              <a:lnSpc>
                <a:spcPct val="104000"/>
              </a:lnSpc>
              <a:buNone/>
            </a:pPr>
            <a:r>
              <a:rPr lang="en-US" sz="1200" dirty="0">
                <a:solidFill>
                  <a:srgbClr val="2C3F42"/>
                </a:solidFill>
                <a:latin typeface="Bitter Medium" pitchFamily="34" charset="0"/>
                <a:ea typeface="Bitter Medium" pitchFamily="34" charset="-122"/>
                <a:cs typeface="Bitter Medium" pitchFamily="34" charset="-120"/>
              </a:rPr>
              <a:t>Pipeline Overview</a:t>
            </a:r>
            <a:endParaRPr lang="en-US" sz="1200" dirty="0"/>
          </a:p>
        </p:txBody>
      </p:sp>
      <p:sp>
        <p:nvSpPr>
          <p:cNvPr id="3" name="Text 1"/>
          <p:cNvSpPr/>
          <p:nvPr/>
        </p:nvSpPr>
        <p:spPr>
          <a:xfrm>
            <a:off x="496119" y="596950"/>
            <a:ext cx="8151763" cy="148679"/>
          </a:xfrm>
          <a:prstGeom prst="rect">
            <a:avLst/>
          </a:prstGeom>
          <a:noFill/>
          <a:ln/>
        </p:spPr>
        <p:txBody>
          <a:bodyPr wrap="square" lIns="0" tIns="0" rIns="0" bIns="0" rtlCol="0" anchor="t">
            <a:normAutofit/>
          </a:bodyPr>
          <a:lstStyle/>
          <a:p>
            <a:pPr algn="l" indent="0" marL="0">
              <a:lnSpc>
                <a:spcPct val="100000"/>
              </a:lnSpc>
              <a:buNone/>
            </a:pPr>
            <a:r>
              <a:rPr lang="en-US" sz="450" dirty="0">
                <a:solidFill>
                  <a:srgbClr val="2B2E3C"/>
                </a:solidFill>
                <a:latin typeface="Open Sans" pitchFamily="34" charset="0"/>
                <a:ea typeface="Open Sans" pitchFamily="34" charset="-122"/>
                <a:cs typeface="Open Sans" pitchFamily="34" charset="-120"/>
              </a:rPr>
              <a:t>The system is structured as an </a:t>
            </a:r>
            <a:pPr algn="l" indent="0" marL="0">
              <a:lnSpc>
                <a:spcPct val="100000"/>
              </a:lnSpc>
              <a:buNone/>
            </a:pPr>
            <a:r>
              <a:rPr lang="en-US" sz="450" b="1" dirty="0">
                <a:solidFill>
                  <a:srgbClr val="2B2E3C"/>
                </a:solidFill>
                <a:latin typeface="Open Sans Bold" pitchFamily="34" charset="0"/>
                <a:ea typeface="Open Sans Bold" pitchFamily="34" charset="-122"/>
                <a:cs typeface="Open Sans Bold" pitchFamily="34" charset="-120"/>
              </a:rPr>
              <a:t>11-stage sequential pipeline</a:t>
            </a:r>
            <a:pPr algn="l" indent="0" marL="0">
              <a:lnSpc>
                <a:spcPct val="100000"/>
              </a:lnSpc>
              <a:buNone/>
            </a:pPr>
            <a:r>
              <a:rPr lang="en-US" sz="450" dirty="0">
                <a:solidFill>
                  <a:srgbClr val="2B2E3C"/>
                </a:solidFill>
                <a:latin typeface="Open Sans" pitchFamily="34" charset="0"/>
                <a:ea typeface="Open Sans" pitchFamily="34" charset="-122"/>
                <a:cs typeface="Open Sans" pitchFamily="34" charset="-120"/>
              </a:rPr>
              <a:t>, each stage building upon the output of the previous. The architecture is designed to handle heterogeneous input formats, perform intelligent scene decomposition, support interactive editing, and export results in a fully standards-compliant 3DGS format. Below is the complete processing flow from raw scene input to final rendered output.</a:t>
            </a:r>
            <a:endParaRPr lang="en-US" sz="450" dirty="0"/>
          </a:p>
        </p:txBody>
      </p:sp>
      <p:pic>
        <p:nvPicPr>
          <p:cNvPr id="4" name="Image 0" descr="preencoded.png">    </p:cNvPr>
          <p:cNvPicPr>
            <a:picLocks noChangeAspect="1"/>
          </p:cNvPicPr>
          <p:nvPr/>
        </p:nvPicPr>
        <p:blipFill>
          <a:blip r:embed="rId1"/>
          <a:stretch>
            <a:fillRect/>
          </a:stretch>
        </p:blipFill>
        <p:spPr>
          <a:xfrm>
            <a:off x="496119" y="780455"/>
            <a:ext cx="7315200" cy="4114800"/>
          </a:xfrm>
          <a:prstGeom prst="rect">
            <a:avLst/>
          </a:prstGeom>
        </p:spPr>
      </p:pic>
      <p:sp>
        <p:nvSpPr>
          <p:cNvPr id="5" name="Text 2"/>
          <p:cNvSpPr/>
          <p:nvPr/>
        </p:nvSpPr>
        <p:spPr>
          <a:xfrm>
            <a:off x="496119" y="4930080"/>
            <a:ext cx="8151763" cy="148679"/>
          </a:xfrm>
          <a:prstGeom prst="rect">
            <a:avLst/>
          </a:prstGeom>
          <a:noFill/>
          <a:ln/>
        </p:spPr>
        <p:txBody>
          <a:bodyPr wrap="square" lIns="0" tIns="0" rIns="0" bIns="0" rtlCol="0" anchor="t">
            <a:normAutofit/>
          </a:bodyPr>
          <a:lstStyle/>
          <a:p>
            <a:pPr algn="l" indent="0" marL="0">
              <a:lnSpc>
                <a:spcPct val="100000"/>
              </a:lnSpc>
              <a:buNone/>
            </a:pPr>
            <a:r>
              <a:rPr lang="en-US" sz="450" dirty="0">
                <a:solidFill>
                  <a:srgbClr val="2B2E3C"/>
                </a:solidFill>
                <a:latin typeface="Open Sans" pitchFamily="34" charset="0"/>
                <a:ea typeface="Open Sans" pitchFamily="34" charset="-122"/>
                <a:cs typeface="Open Sans" pitchFamily="34" charset="-120"/>
              </a:rPr>
              <a:t>Each stage is designed to be modular and independently testable. The pipeline supports both conventional point clouds and native 3D Gaussian Splat scenes as input, automatically detecting the format and adapting its processing strategy accordingly. The critical innovation lies in Stage 6, where the </a:t>
            </a:r>
            <a:pPr algn="l" indent="0" marL="0">
              <a:lnSpc>
                <a:spcPct val="100000"/>
              </a:lnSpc>
              <a:buNone/>
            </a:pPr>
            <a:r>
              <a:rPr lang="en-US" sz="450" b="1" dirty="0">
                <a:solidFill>
                  <a:srgbClr val="2B2E3C"/>
                </a:solidFill>
                <a:latin typeface="Open Sans Bold" pitchFamily="34" charset="0"/>
                <a:ea typeface="Open Sans Bold" pitchFamily="34" charset="-122"/>
                <a:cs typeface="Open Sans Bold" pitchFamily="34" charset="-120"/>
              </a:rPr>
              <a:t>SourceSplat Architecture</a:t>
            </a:r>
            <a:pPr algn="l" indent="0" marL="0">
              <a:lnSpc>
                <a:spcPct val="100000"/>
              </a:lnSpc>
              <a:buNone/>
            </a:pPr>
            <a:r>
              <a:rPr lang="en-US" sz="450" dirty="0">
                <a:solidFill>
                  <a:srgbClr val="2B2E3C"/>
                </a:solidFill>
                <a:latin typeface="Open Sans" pitchFamily="34" charset="0"/>
                <a:ea typeface="Open Sans" pitchFamily="34" charset="-122"/>
                <a:cs typeface="Open Sans" pitchFamily="34" charset="-120"/>
              </a:rPr>
              <a:t> ensures zero degradation of Gaussian attributes throughout the entire editing workflow.</a:t>
            </a:r>
            <a:endParaRPr lang="en-US" sz="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96119" y="369689"/>
            <a:ext cx="422597" cy="172938"/>
          </a:xfrm>
          <a:prstGeom prst="roundRect">
            <a:avLst>
              <a:gd name="adj" fmla="val 19205"/>
            </a:avLst>
          </a:prstGeom>
          <a:solidFill>
            <a:srgbClr val="FCE2CF"/>
          </a:solidFill>
          <a:ln/>
        </p:spPr>
      </p:sp>
      <p:sp>
        <p:nvSpPr>
          <p:cNvPr id="3" name="Text 1"/>
          <p:cNvSpPr/>
          <p:nvPr/>
        </p:nvSpPr>
        <p:spPr>
          <a:xfrm>
            <a:off x="555427" y="399306"/>
            <a:ext cx="761181" cy="113705"/>
          </a:xfrm>
          <a:prstGeom prst="rect">
            <a:avLst/>
          </a:prstGeom>
          <a:noFill/>
          <a:ln/>
        </p:spPr>
        <p:txBody>
          <a:bodyPr wrap="none" lIns="0" tIns="0" rIns="0" bIns="0" rtlCol="0" anchor="t"/>
          <a:lstStyle/>
          <a:p>
            <a:pPr algn="l" indent="0" marL="0">
              <a:lnSpc>
                <a:spcPct val="120000"/>
              </a:lnSpc>
              <a:buNone/>
            </a:pPr>
            <a:r>
              <a:rPr lang="en-US" sz="600" dirty="0">
                <a:solidFill>
                  <a:srgbClr val="2B2E3C"/>
                </a:solidFill>
                <a:latin typeface="Open Sans" pitchFamily="34" charset="0"/>
                <a:ea typeface="Open Sans" pitchFamily="34" charset="-122"/>
                <a:cs typeface="Open Sans" pitchFamily="34" charset="-120"/>
              </a:rPr>
              <a:t>STAGE 1</a:t>
            </a:r>
            <a:endParaRPr lang="en-US" sz="600" dirty="0"/>
          </a:p>
        </p:txBody>
      </p:sp>
      <p:sp>
        <p:nvSpPr>
          <p:cNvPr id="4" name="Text 2"/>
          <p:cNvSpPr/>
          <p:nvPr/>
        </p:nvSpPr>
        <p:spPr>
          <a:xfrm>
            <a:off x="496119" y="574104"/>
            <a:ext cx="8151763" cy="308893"/>
          </a:xfrm>
          <a:prstGeom prst="rect">
            <a:avLst/>
          </a:prstGeom>
          <a:noFill/>
          <a:ln/>
        </p:spPr>
        <p:txBody>
          <a:bodyPr wrap="none" lIns="0" tIns="0" rIns="0" bIns="0" rtlCol="0" anchor="t"/>
          <a:lstStyle/>
          <a:p>
            <a:pPr algn="l" indent="0" marL="0">
              <a:lnSpc>
                <a:spcPct val="104000"/>
              </a:lnSpc>
              <a:buNone/>
            </a:pPr>
            <a:r>
              <a:rPr lang="en-US" sz="1900" dirty="0">
                <a:solidFill>
                  <a:srgbClr val="2C3F42"/>
                </a:solidFill>
                <a:latin typeface="Bitter Medium" pitchFamily="34" charset="0"/>
                <a:ea typeface="Bitter Medium" pitchFamily="34" charset="-122"/>
                <a:cs typeface="Bitter Medium" pitchFamily="34" charset="-120"/>
              </a:rPr>
              <a:t>Scene Input &amp; Initialization</a:t>
            </a:r>
            <a:endParaRPr lang="en-US" sz="1900" dirty="0"/>
          </a:p>
        </p:txBody>
      </p:sp>
      <p:sp>
        <p:nvSpPr>
          <p:cNvPr id="5" name="Shape 3"/>
          <p:cNvSpPr/>
          <p:nvPr/>
        </p:nvSpPr>
        <p:spPr>
          <a:xfrm>
            <a:off x="424979" y="1001092"/>
            <a:ext cx="4097610" cy="3772719"/>
          </a:xfrm>
          <a:prstGeom prst="roundRect">
            <a:avLst>
              <a:gd name="adj" fmla="val 1886"/>
            </a:avLst>
          </a:prstGeom>
          <a:solidFill>
            <a:srgbClr val="D2600F"/>
          </a:solidFill>
          <a:ln/>
        </p:spPr>
      </p:sp>
      <p:sp>
        <p:nvSpPr>
          <p:cNvPr id="6" name="Text 4"/>
          <p:cNvSpPr/>
          <p:nvPr/>
        </p:nvSpPr>
        <p:spPr>
          <a:xfrm>
            <a:off x="523801" y="1079822"/>
            <a:ext cx="3899967" cy="154409"/>
          </a:xfrm>
          <a:prstGeom prst="rect">
            <a:avLst/>
          </a:prstGeom>
          <a:noFill/>
          <a:ln/>
        </p:spPr>
        <p:txBody>
          <a:bodyPr wrap="none" lIns="0" tIns="0" rIns="0" bIns="0" rtlCol="0" anchor="t"/>
          <a:lstStyle/>
          <a:p>
            <a:pPr algn="l" indent="0" marL="0">
              <a:lnSpc>
                <a:spcPct val="104000"/>
              </a:lnSpc>
              <a:buNone/>
            </a:pPr>
            <a:r>
              <a:rPr lang="en-US" sz="950" dirty="0">
                <a:solidFill>
                  <a:srgbClr val="000000"/>
                </a:solidFill>
                <a:latin typeface="Bitter Medium" pitchFamily="34" charset="0"/>
                <a:ea typeface="Bitter Medium" pitchFamily="34" charset="-122"/>
                <a:cs typeface="Bitter Medium" pitchFamily="34" charset="-120"/>
              </a:rPr>
              <a:t>Objective</a:t>
            </a:r>
            <a:endParaRPr lang="en-US" sz="950" dirty="0"/>
          </a:p>
        </p:txBody>
      </p:sp>
      <p:sp>
        <p:nvSpPr>
          <p:cNvPr id="7" name="Text 5"/>
          <p:cNvSpPr/>
          <p:nvPr/>
        </p:nvSpPr>
        <p:spPr>
          <a:xfrm>
            <a:off x="523801" y="1312962"/>
            <a:ext cx="3899967" cy="426169"/>
          </a:xfrm>
          <a:prstGeom prst="rect">
            <a:avLst/>
          </a:prstGeom>
          <a:noFill/>
          <a:ln/>
        </p:spPr>
        <p:txBody>
          <a:bodyPr wrap="square" lIns="0" tIns="0" rIns="0" bIns="0" rtlCol="0" anchor="t">
            <a:normAutofit/>
          </a:bodyPr>
          <a:lstStyle/>
          <a:p>
            <a:pPr algn="l" indent="0" marL="0">
              <a:lnSpc>
                <a:spcPct val="120000"/>
              </a:lnSpc>
              <a:buNone/>
            </a:pPr>
            <a:r>
              <a:rPr lang="en-US" sz="750" dirty="0">
                <a:solidFill>
                  <a:srgbClr val="000000"/>
                </a:solidFill>
                <a:latin typeface="Open Sans" pitchFamily="34" charset="0"/>
                <a:ea typeface="Open Sans" pitchFamily="34" charset="-122"/>
                <a:cs typeface="Open Sans" pitchFamily="34" charset="-120"/>
              </a:rPr>
              <a:t>Acquire the input scene and initialize it into a structured internal format that can be processed uniformly by all downstream stages, regardless of the original representation.</a:t>
            </a:r>
            <a:endParaRPr lang="en-US" sz="750" dirty="0"/>
          </a:p>
        </p:txBody>
      </p:sp>
      <p:sp>
        <p:nvSpPr>
          <p:cNvPr id="8" name="Text 6"/>
          <p:cNvSpPr/>
          <p:nvPr/>
        </p:nvSpPr>
        <p:spPr>
          <a:xfrm>
            <a:off x="523801" y="1817861"/>
            <a:ext cx="3899967" cy="154409"/>
          </a:xfrm>
          <a:prstGeom prst="rect">
            <a:avLst/>
          </a:prstGeom>
          <a:noFill/>
          <a:ln/>
        </p:spPr>
        <p:txBody>
          <a:bodyPr wrap="none" lIns="0" tIns="0" rIns="0" bIns="0" rtlCol="0" anchor="t"/>
          <a:lstStyle/>
          <a:p>
            <a:pPr algn="l" indent="0" marL="0">
              <a:lnSpc>
                <a:spcPct val="104000"/>
              </a:lnSpc>
              <a:buNone/>
            </a:pPr>
            <a:r>
              <a:rPr lang="en-US" sz="950" dirty="0">
                <a:solidFill>
                  <a:srgbClr val="000000"/>
                </a:solidFill>
                <a:latin typeface="Bitter Medium" pitchFamily="34" charset="0"/>
                <a:ea typeface="Bitter Medium" pitchFamily="34" charset="-122"/>
                <a:cs typeface="Bitter Medium" pitchFamily="34" charset="-120"/>
              </a:rPr>
              <a:t>The Core Problem</a:t>
            </a:r>
            <a:endParaRPr lang="en-US" sz="950" dirty="0"/>
          </a:p>
        </p:txBody>
      </p:sp>
      <p:sp>
        <p:nvSpPr>
          <p:cNvPr id="9" name="Text 7"/>
          <p:cNvSpPr/>
          <p:nvPr/>
        </p:nvSpPr>
        <p:spPr>
          <a:xfrm>
            <a:off x="523801" y="2051000"/>
            <a:ext cx="3899967" cy="568226"/>
          </a:xfrm>
          <a:prstGeom prst="rect">
            <a:avLst/>
          </a:prstGeom>
          <a:noFill/>
          <a:ln/>
        </p:spPr>
        <p:txBody>
          <a:bodyPr wrap="square" lIns="0" tIns="0" rIns="0" bIns="0" rtlCol="0" anchor="t">
            <a:normAutofit/>
          </a:bodyPr>
          <a:lstStyle/>
          <a:p>
            <a:pPr algn="l" indent="0" marL="0">
              <a:lnSpc>
                <a:spcPct val="120000"/>
              </a:lnSpc>
              <a:buNone/>
            </a:pPr>
            <a:r>
              <a:rPr lang="en-US" sz="750" dirty="0">
                <a:solidFill>
                  <a:srgbClr val="000000"/>
                </a:solidFill>
                <a:latin typeface="Open Sans" pitchFamily="34" charset="0"/>
                <a:ea typeface="Open Sans" pitchFamily="34" charset="-122"/>
                <a:cs typeface="Open Sans" pitchFamily="34" charset="-120"/>
              </a:rPr>
              <a:t>Real-world 3D scenes arrive in fundamentally different representations — standard point clouds store only XYZ positions and optional attributes, while Gaussian Splat scenes encode rich anisotropic Gaussian parameters. The system must identify the input format and extract all relevant information without loss.</a:t>
            </a:r>
            <a:endParaRPr lang="en-US" sz="750" dirty="0"/>
          </a:p>
        </p:txBody>
      </p:sp>
      <p:sp>
        <p:nvSpPr>
          <p:cNvPr id="10" name="Text 8"/>
          <p:cNvSpPr/>
          <p:nvPr/>
        </p:nvSpPr>
        <p:spPr>
          <a:xfrm>
            <a:off x="4697313" y="1079822"/>
            <a:ext cx="3955331" cy="154409"/>
          </a:xfrm>
          <a:prstGeom prst="rect">
            <a:avLst/>
          </a:prstGeom>
          <a:noFill/>
          <a:ln/>
        </p:spPr>
        <p:txBody>
          <a:bodyPr wrap="none" lIns="0" tIns="0" rIns="0" bIns="0" rtlCol="0" anchor="t"/>
          <a:lstStyle/>
          <a:p>
            <a:pPr algn="l" indent="0" marL="0">
              <a:lnSpc>
                <a:spcPct val="104000"/>
              </a:lnSpc>
              <a:buNone/>
            </a:pPr>
            <a:r>
              <a:rPr lang="en-US" sz="950" dirty="0">
                <a:solidFill>
                  <a:srgbClr val="2C3F42"/>
                </a:solidFill>
                <a:latin typeface="Bitter Medium" pitchFamily="34" charset="0"/>
                <a:ea typeface="Bitter Medium" pitchFamily="34" charset="-122"/>
                <a:cs typeface="Bitter Medium" pitchFamily="34" charset="-120"/>
              </a:rPr>
              <a:t>Supported Input Formats</a:t>
            </a:r>
            <a:endParaRPr lang="en-US" sz="950" dirty="0"/>
          </a:p>
        </p:txBody>
      </p:sp>
      <p:sp>
        <p:nvSpPr>
          <p:cNvPr id="11" name="Shape 9"/>
          <p:cNvSpPr/>
          <p:nvPr/>
        </p:nvSpPr>
        <p:spPr>
          <a:xfrm>
            <a:off x="4697313" y="1322784"/>
            <a:ext cx="1938263" cy="582364"/>
          </a:xfrm>
          <a:prstGeom prst="roundRect">
            <a:avLst>
              <a:gd name="adj" fmla="val 7129"/>
            </a:avLst>
          </a:prstGeom>
          <a:solidFill>
            <a:srgbClr val="FCE2CF"/>
          </a:solidFill>
          <a:ln w="4763">
            <a:solidFill>
              <a:srgbClr val="E2C8B5"/>
            </a:solidFill>
            <a:prstDash val="solid"/>
          </a:ln>
        </p:spPr>
      </p:sp>
      <p:sp>
        <p:nvSpPr>
          <p:cNvPr id="12" name="Text 10"/>
          <p:cNvSpPr/>
          <p:nvPr/>
        </p:nvSpPr>
        <p:spPr>
          <a:xfrm>
            <a:off x="4800898" y="1426369"/>
            <a:ext cx="1731094" cy="154409"/>
          </a:xfrm>
          <a:prstGeom prst="rect">
            <a:avLst/>
          </a:prstGeom>
          <a:noFill/>
          <a:ln/>
        </p:spPr>
        <p:txBody>
          <a:bodyPr wrap="none" lIns="0" tIns="0" rIns="0" bIns="0" rtlCol="0" anchor="t"/>
          <a:lstStyle/>
          <a:p>
            <a:pPr algn="l" indent="0" marL="0">
              <a:lnSpc>
                <a:spcPct val="104000"/>
              </a:lnSpc>
              <a:buNone/>
            </a:pPr>
            <a:r>
              <a:rPr lang="en-US" sz="950" dirty="0">
                <a:solidFill>
                  <a:srgbClr val="2B2E3C"/>
                </a:solidFill>
                <a:latin typeface="Bitter Medium" pitchFamily="34" charset="0"/>
                <a:ea typeface="Bitter Medium" pitchFamily="34" charset="-122"/>
                <a:cs typeface="Bitter Medium" pitchFamily="34" charset="-120"/>
              </a:rPr>
              <a:t>PLY</a:t>
            </a:r>
            <a:endParaRPr lang="en-US" sz="950" dirty="0"/>
          </a:p>
        </p:txBody>
      </p:sp>
      <p:sp>
        <p:nvSpPr>
          <p:cNvPr id="13" name="Text 11"/>
          <p:cNvSpPr/>
          <p:nvPr/>
        </p:nvSpPr>
        <p:spPr>
          <a:xfrm>
            <a:off x="4800898" y="1659508"/>
            <a:ext cx="1731094" cy="142056"/>
          </a:xfrm>
          <a:prstGeom prst="rect">
            <a:avLst/>
          </a:prstGeom>
          <a:noFill/>
          <a:ln/>
        </p:spPr>
        <p:txBody>
          <a:bodyPr wrap="none" lIns="0" tIns="0" rIns="0" bIns="0" rtlCol="0" anchor="t"/>
          <a:lstStyle/>
          <a:p>
            <a:pPr algn="l" indent="0" marL="0">
              <a:lnSpc>
                <a:spcPct val="120000"/>
              </a:lnSpc>
              <a:buNone/>
            </a:pPr>
            <a:r>
              <a:rPr lang="en-US" sz="750" dirty="0">
                <a:solidFill>
                  <a:srgbClr val="2B2E3C"/>
                </a:solidFill>
                <a:latin typeface="Open Sans" pitchFamily="34" charset="0"/>
                <a:ea typeface="Open Sans" pitchFamily="34" charset="-122"/>
                <a:cs typeface="Open Sans" pitchFamily="34" charset="-120"/>
              </a:rPr>
              <a:t>Standard polygon file format</a:t>
            </a:r>
            <a:endParaRPr lang="en-US" sz="750" dirty="0"/>
          </a:p>
        </p:txBody>
      </p:sp>
      <p:sp>
        <p:nvSpPr>
          <p:cNvPr id="14" name="Shape 12"/>
          <p:cNvSpPr/>
          <p:nvPr/>
        </p:nvSpPr>
        <p:spPr>
          <a:xfrm>
            <a:off x="6714306" y="1322784"/>
            <a:ext cx="1938338" cy="582364"/>
          </a:xfrm>
          <a:prstGeom prst="roundRect">
            <a:avLst>
              <a:gd name="adj" fmla="val 7129"/>
            </a:avLst>
          </a:prstGeom>
          <a:solidFill>
            <a:srgbClr val="FCE2CF"/>
          </a:solidFill>
          <a:ln w="4763">
            <a:solidFill>
              <a:srgbClr val="E2C8B5"/>
            </a:solidFill>
            <a:prstDash val="solid"/>
          </a:ln>
        </p:spPr>
      </p:sp>
      <p:sp>
        <p:nvSpPr>
          <p:cNvPr id="15" name="Text 13"/>
          <p:cNvSpPr/>
          <p:nvPr/>
        </p:nvSpPr>
        <p:spPr>
          <a:xfrm>
            <a:off x="6817891" y="1426369"/>
            <a:ext cx="1731169" cy="154409"/>
          </a:xfrm>
          <a:prstGeom prst="rect">
            <a:avLst/>
          </a:prstGeom>
          <a:noFill/>
          <a:ln/>
        </p:spPr>
        <p:txBody>
          <a:bodyPr wrap="none" lIns="0" tIns="0" rIns="0" bIns="0" rtlCol="0" anchor="t"/>
          <a:lstStyle/>
          <a:p>
            <a:pPr algn="l" indent="0" marL="0">
              <a:lnSpc>
                <a:spcPct val="104000"/>
              </a:lnSpc>
              <a:buNone/>
            </a:pPr>
            <a:r>
              <a:rPr lang="en-US" sz="950" dirty="0">
                <a:solidFill>
                  <a:srgbClr val="2B2E3C"/>
                </a:solidFill>
                <a:latin typeface="Bitter Medium" pitchFamily="34" charset="0"/>
                <a:ea typeface="Bitter Medium" pitchFamily="34" charset="-122"/>
                <a:cs typeface="Bitter Medium" pitchFamily="34" charset="-120"/>
              </a:rPr>
              <a:t>PCD</a:t>
            </a:r>
            <a:endParaRPr lang="en-US" sz="950" dirty="0"/>
          </a:p>
        </p:txBody>
      </p:sp>
      <p:sp>
        <p:nvSpPr>
          <p:cNvPr id="16" name="Text 14"/>
          <p:cNvSpPr/>
          <p:nvPr/>
        </p:nvSpPr>
        <p:spPr>
          <a:xfrm>
            <a:off x="6817891" y="1659508"/>
            <a:ext cx="1731169" cy="142056"/>
          </a:xfrm>
          <a:prstGeom prst="rect">
            <a:avLst/>
          </a:prstGeom>
          <a:noFill/>
          <a:ln/>
        </p:spPr>
        <p:txBody>
          <a:bodyPr wrap="none" lIns="0" tIns="0" rIns="0" bIns="0" rtlCol="0" anchor="t"/>
          <a:lstStyle/>
          <a:p>
            <a:pPr algn="l" indent="0" marL="0">
              <a:lnSpc>
                <a:spcPct val="120000"/>
              </a:lnSpc>
              <a:buNone/>
            </a:pPr>
            <a:r>
              <a:rPr lang="en-US" sz="750" dirty="0">
                <a:solidFill>
                  <a:srgbClr val="2B2E3C"/>
                </a:solidFill>
                <a:latin typeface="Open Sans" pitchFamily="34" charset="0"/>
                <a:ea typeface="Open Sans" pitchFamily="34" charset="-122"/>
                <a:cs typeface="Open Sans" pitchFamily="34" charset="-120"/>
              </a:rPr>
              <a:t>Point Cloud Data format</a:t>
            </a:r>
            <a:endParaRPr lang="en-US" sz="750" dirty="0"/>
          </a:p>
        </p:txBody>
      </p:sp>
      <p:sp>
        <p:nvSpPr>
          <p:cNvPr id="17" name="Shape 15"/>
          <p:cNvSpPr/>
          <p:nvPr/>
        </p:nvSpPr>
        <p:spPr>
          <a:xfrm>
            <a:off x="4697313" y="1983879"/>
            <a:ext cx="1938263" cy="582364"/>
          </a:xfrm>
          <a:prstGeom prst="roundRect">
            <a:avLst>
              <a:gd name="adj" fmla="val 7129"/>
            </a:avLst>
          </a:prstGeom>
          <a:solidFill>
            <a:srgbClr val="FCE2CF"/>
          </a:solidFill>
          <a:ln w="4763">
            <a:solidFill>
              <a:srgbClr val="E2C8B5"/>
            </a:solidFill>
            <a:prstDash val="solid"/>
          </a:ln>
        </p:spPr>
      </p:sp>
      <p:sp>
        <p:nvSpPr>
          <p:cNvPr id="18" name="Text 16"/>
          <p:cNvSpPr/>
          <p:nvPr/>
        </p:nvSpPr>
        <p:spPr>
          <a:xfrm>
            <a:off x="4800898" y="2087463"/>
            <a:ext cx="1731094" cy="154409"/>
          </a:xfrm>
          <a:prstGeom prst="rect">
            <a:avLst/>
          </a:prstGeom>
          <a:noFill/>
          <a:ln/>
        </p:spPr>
        <p:txBody>
          <a:bodyPr wrap="none" lIns="0" tIns="0" rIns="0" bIns="0" rtlCol="0" anchor="t"/>
          <a:lstStyle/>
          <a:p>
            <a:pPr algn="l" indent="0" marL="0">
              <a:lnSpc>
                <a:spcPct val="104000"/>
              </a:lnSpc>
              <a:buNone/>
            </a:pPr>
            <a:r>
              <a:rPr lang="en-US" sz="950" dirty="0">
                <a:solidFill>
                  <a:srgbClr val="2B2E3C"/>
                </a:solidFill>
                <a:latin typeface="Bitter Medium" pitchFamily="34" charset="0"/>
                <a:ea typeface="Bitter Medium" pitchFamily="34" charset="-122"/>
                <a:cs typeface="Bitter Medium" pitchFamily="34" charset="-120"/>
              </a:rPr>
              <a:t>XYZ</a:t>
            </a:r>
            <a:endParaRPr lang="en-US" sz="950" dirty="0"/>
          </a:p>
        </p:txBody>
      </p:sp>
      <p:sp>
        <p:nvSpPr>
          <p:cNvPr id="19" name="Text 17"/>
          <p:cNvSpPr/>
          <p:nvPr/>
        </p:nvSpPr>
        <p:spPr>
          <a:xfrm>
            <a:off x="4800898" y="2320603"/>
            <a:ext cx="1731094" cy="142056"/>
          </a:xfrm>
          <a:prstGeom prst="rect">
            <a:avLst/>
          </a:prstGeom>
          <a:noFill/>
          <a:ln/>
        </p:spPr>
        <p:txBody>
          <a:bodyPr wrap="none" lIns="0" tIns="0" rIns="0" bIns="0" rtlCol="0" anchor="t"/>
          <a:lstStyle/>
          <a:p>
            <a:pPr algn="l" indent="0" marL="0">
              <a:lnSpc>
                <a:spcPct val="120000"/>
              </a:lnSpc>
              <a:buNone/>
            </a:pPr>
            <a:r>
              <a:rPr lang="en-US" sz="750" dirty="0">
                <a:solidFill>
                  <a:srgbClr val="2B2E3C"/>
                </a:solidFill>
                <a:latin typeface="Open Sans" pitchFamily="34" charset="0"/>
                <a:ea typeface="Open Sans" pitchFamily="34" charset="-122"/>
                <a:cs typeface="Open Sans" pitchFamily="34" charset="-120"/>
              </a:rPr>
              <a:t>Raw coordinate format</a:t>
            </a:r>
            <a:endParaRPr lang="en-US" sz="750" dirty="0"/>
          </a:p>
        </p:txBody>
      </p:sp>
      <p:sp>
        <p:nvSpPr>
          <p:cNvPr id="20" name="Shape 18"/>
          <p:cNvSpPr/>
          <p:nvPr/>
        </p:nvSpPr>
        <p:spPr>
          <a:xfrm>
            <a:off x="6714306" y="1983879"/>
            <a:ext cx="1938338" cy="582364"/>
          </a:xfrm>
          <a:prstGeom prst="roundRect">
            <a:avLst>
              <a:gd name="adj" fmla="val 7129"/>
            </a:avLst>
          </a:prstGeom>
          <a:solidFill>
            <a:srgbClr val="FCE2CF"/>
          </a:solidFill>
          <a:ln w="4763">
            <a:solidFill>
              <a:srgbClr val="E2C8B5"/>
            </a:solidFill>
            <a:prstDash val="solid"/>
          </a:ln>
        </p:spPr>
      </p:sp>
      <p:sp>
        <p:nvSpPr>
          <p:cNvPr id="21" name="Text 19"/>
          <p:cNvSpPr/>
          <p:nvPr/>
        </p:nvSpPr>
        <p:spPr>
          <a:xfrm>
            <a:off x="6817891" y="2087463"/>
            <a:ext cx="1731169" cy="154409"/>
          </a:xfrm>
          <a:prstGeom prst="rect">
            <a:avLst/>
          </a:prstGeom>
          <a:noFill/>
          <a:ln/>
        </p:spPr>
        <p:txBody>
          <a:bodyPr wrap="none" lIns="0" tIns="0" rIns="0" bIns="0" rtlCol="0" anchor="t"/>
          <a:lstStyle/>
          <a:p>
            <a:pPr algn="l" indent="0" marL="0">
              <a:lnSpc>
                <a:spcPct val="104000"/>
              </a:lnSpc>
              <a:buNone/>
            </a:pPr>
            <a:r>
              <a:rPr lang="en-US" sz="950" dirty="0">
                <a:solidFill>
                  <a:srgbClr val="2B2E3C"/>
                </a:solidFill>
                <a:latin typeface="Bitter Medium" pitchFamily="34" charset="0"/>
                <a:ea typeface="Bitter Medium" pitchFamily="34" charset="-122"/>
                <a:cs typeface="Bitter Medium" pitchFamily="34" charset="-120"/>
              </a:rPr>
              <a:t>3DGS PLY</a:t>
            </a:r>
            <a:endParaRPr lang="en-US" sz="950" dirty="0"/>
          </a:p>
        </p:txBody>
      </p:sp>
      <p:sp>
        <p:nvSpPr>
          <p:cNvPr id="22" name="Text 20"/>
          <p:cNvSpPr/>
          <p:nvPr/>
        </p:nvSpPr>
        <p:spPr>
          <a:xfrm>
            <a:off x="6817891" y="2320603"/>
            <a:ext cx="1731169" cy="142056"/>
          </a:xfrm>
          <a:prstGeom prst="rect">
            <a:avLst/>
          </a:prstGeom>
          <a:noFill/>
          <a:ln/>
        </p:spPr>
        <p:txBody>
          <a:bodyPr wrap="none" lIns="0" tIns="0" rIns="0" bIns="0" rtlCol="0" anchor="t"/>
          <a:lstStyle/>
          <a:p>
            <a:pPr algn="l" indent="0" marL="0">
              <a:lnSpc>
                <a:spcPct val="120000"/>
              </a:lnSpc>
              <a:buNone/>
            </a:pPr>
            <a:r>
              <a:rPr lang="en-US" sz="750" dirty="0">
                <a:solidFill>
                  <a:srgbClr val="2B2E3C"/>
                </a:solidFill>
                <a:latin typeface="Open Sans" pitchFamily="34" charset="0"/>
                <a:ea typeface="Open Sans" pitchFamily="34" charset="-122"/>
                <a:cs typeface="Open Sans" pitchFamily="34" charset="-120"/>
              </a:rPr>
              <a:t>Gaussian Splat PLY</a:t>
            </a:r>
            <a:endParaRPr lang="en-US" sz="750" dirty="0"/>
          </a:p>
        </p:txBody>
      </p:sp>
      <p:sp>
        <p:nvSpPr>
          <p:cNvPr id="23" name="Text 21"/>
          <p:cNvSpPr/>
          <p:nvPr/>
        </p:nvSpPr>
        <p:spPr>
          <a:xfrm>
            <a:off x="4697313" y="2654796"/>
            <a:ext cx="3955331" cy="154409"/>
          </a:xfrm>
          <a:prstGeom prst="rect">
            <a:avLst/>
          </a:prstGeom>
          <a:noFill/>
          <a:ln/>
        </p:spPr>
        <p:txBody>
          <a:bodyPr wrap="none" lIns="0" tIns="0" rIns="0" bIns="0" rtlCol="0" anchor="t"/>
          <a:lstStyle/>
          <a:p>
            <a:pPr algn="l" indent="0" marL="0">
              <a:lnSpc>
                <a:spcPct val="104000"/>
              </a:lnSpc>
              <a:buNone/>
            </a:pPr>
            <a:r>
              <a:rPr lang="en-US" sz="950" dirty="0">
                <a:solidFill>
                  <a:srgbClr val="2C3F42"/>
                </a:solidFill>
                <a:latin typeface="Bitter Medium" pitchFamily="34" charset="0"/>
                <a:ea typeface="Bitter Medium" pitchFamily="34" charset="-122"/>
                <a:cs typeface="Bitter Medium" pitchFamily="34" charset="-120"/>
              </a:rPr>
              <a:t>Parsed Attributes</a:t>
            </a:r>
            <a:endParaRPr lang="en-US" sz="950" dirty="0"/>
          </a:p>
        </p:txBody>
      </p:sp>
      <p:sp>
        <p:nvSpPr>
          <p:cNvPr id="24" name="Text 22"/>
          <p:cNvSpPr/>
          <p:nvPr/>
        </p:nvSpPr>
        <p:spPr>
          <a:xfrm>
            <a:off x="4697313" y="2887935"/>
            <a:ext cx="3955331" cy="792882"/>
          </a:xfrm>
          <a:prstGeom prst="rect">
            <a:avLst/>
          </a:prstGeom>
          <a:noFill/>
          <a:ln/>
        </p:spPr>
        <p:txBody>
          <a:bodyPr wrap="square" lIns="0" tIns="0" rIns="0" bIns="0" rtlCol="0" anchor="t">
            <a:normAutofit/>
          </a:bodyPr>
          <a:lstStyle/>
          <a:p>
            <a:pPr algn="l" marL="152400" indent="-152400">
              <a:lnSpc>
                <a:spcPct val="120000"/>
              </a:lnSpc>
              <a:buSzPct val="100000"/>
              <a:buChar char="•"/>
            </a:pPr>
            <a:r>
              <a:rPr lang="en-US" sz="750" b="1" dirty="0">
                <a:solidFill>
                  <a:srgbClr val="2B2E3C"/>
                </a:solidFill>
                <a:latin typeface="Open Sans Bold" pitchFamily="34" charset="0"/>
                <a:ea typeface="Open Sans Bold" pitchFamily="34" charset="-122"/>
                <a:cs typeface="Open Sans Bold" pitchFamily="34" charset="-120"/>
              </a:rPr>
              <a:t>XYZ coordinates</a:t>
            </a:r>
            <a:pPr algn="l" marL="152400" indent="-152400">
              <a:lnSpc>
                <a:spcPct val="120000"/>
              </a:lnSpc>
              <a:buSzPct val="100000"/>
              <a:buChar char="•"/>
            </a:pPr>
            <a:r>
              <a:rPr lang="en-US" sz="750" dirty="0">
                <a:solidFill>
                  <a:srgbClr val="2B2E3C"/>
                </a:solidFill>
                <a:latin typeface="Open Sans" pitchFamily="34" charset="0"/>
                <a:ea typeface="Open Sans" pitchFamily="34" charset="-122"/>
                <a:cs typeface="Open Sans" pitchFamily="34" charset="-120"/>
              </a:rPr>
              <a:t> — spatial positions for all points</a:t>
            </a:r>
            <a:endParaRPr lang="en-US" sz="750" dirty="0"/>
          </a:p>
          <a:p>
            <a:pPr algn="l" marL="152400" indent="-152400">
              <a:lnSpc>
                <a:spcPct val="120000"/>
              </a:lnSpc>
              <a:buSzPct val="100000"/>
              <a:buChar char="•"/>
            </a:pPr>
            <a:r>
              <a:rPr lang="en-US" sz="750" b="1" dirty="0">
                <a:solidFill>
                  <a:srgbClr val="2B2E3C"/>
                </a:solidFill>
                <a:latin typeface="Open Sans Bold" pitchFamily="34" charset="0"/>
                <a:ea typeface="Open Sans Bold" pitchFamily="34" charset="-122"/>
                <a:cs typeface="Open Sans Bold" pitchFamily="34" charset="-120"/>
              </a:rPr>
              <a:t>RGB colors</a:t>
            </a:r>
            <a:pPr algn="l" marL="152400" indent="-152400">
              <a:lnSpc>
                <a:spcPct val="120000"/>
              </a:lnSpc>
              <a:buSzPct val="100000"/>
              <a:buChar char="•"/>
            </a:pPr>
            <a:r>
              <a:rPr lang="en-US" sz="750" dirty="0">
                <a:solidFill>
                  <a:srgbClr val="2B2E3C"/>
                </a:solidFill>
                <a:latin typeface="Open Sans" pitchFamily="34" charset="0"/>
                <a:ea typeface="Open Sans" pitchFamily="34" charset="-122"/>
                <a:cs typeface="Open Sans" pitchFamily="34" charset="-120"/>
              </a:rPr>
              <a:t> — per-point color values</a:t>
            </a:r>
            <a:endParaRPr lang="en-US" sz="750" dirty="0"/>
          </a:p>
          <a:p>
            <a:pPr algn="l" marL="152400" indent="-152400">
              <a:lnSpc>
                <a:spcPct val="120000"/>
              </a:lnSpc>
              <a:buSzPct val="100000"/>
              <a:buChar char="•"/>
            </a:pPr>
            <a:r>
              <a:rPr lang="en-US" sz="750" b="1" dirty="0">
                <a:solidFill>
                  <a:srgbClr val="2B2E3C"/>
                </a:solidFill>
                <a:latin typeface="Open Sans Bold" pitchFamily="34" charset="0"/>
                <a:ea typeface="Open Sans Bold" pitchFamily="34" charset="-122"/>
                <a:cs typeface="Open Sans Bold" pitchFamily="34" charset="-120"/>
              </a:rPr>
              <a:t>Point normals</a:t>
            </a:r>
            <a:pPr algn="l" marL="152400" indent="-152400">
              <a:lnSpc>
                <a:spcPct val="120000"/>
              </a:lnSpc>
              <a:buSzPct val="100000"/>
              <a:buChar char="•"/>
            </a:pPr>
            <a:r>
              <a:rPr lang="en-US" sz="750" dirty="0">
                <a:solidFill>
                  <a:srgbClr val="2B2E3C"/>
                </a:solidFill>
                <a:latin typeface="Open Sans" pitchFamily="34" charset="0"/>
                <a:ea typeface="Open Sans" pitchFamily="34" charset="-122"/>
                <a:cs typeface="Open Sans" pitchFamily="34" charset="-120"/>
              </a:rPr>
              <a:t> — surface orientation (if available)</a:t>
            </a:r>
            <a:endParaRPr lang="en-US" sz="750" dirty="0"/>
          </a:p>
          <a:p>
            <a:pPr algn="l" marL="152400" indent="-152400">
              <a:lnSpc>
                <a:spcPct val="120000"/>
              </a:lnSpc>
              <a:buSzPct val="100000"/>
              <a:buChar char="•"/>
            </a:pPr>
            <a:r>
              <a:rPr lang="en-US" sz="750" b="1" dirty="0">
                <a:solidFill>
                  <a:srgbClr val="2B2E3C"/>
                </a:solidFill>
                <a:latin typeface="Open Sans Bold" pitchFamily="34" charset="0"/>
                <a:ea typeface="Open Sans Bold" pitchFamily="34" charset="-122"/>
                <a:cs typeface="Open Sans Bold" pitchFamily="34" charset="-120"/>
              </a:rPr>
              <a:t>Gaussian parameters</a:t>
            </a:r>
            <a:pPr algn="l" marL="152400" indent="-152400">
              <a:lnSpc>
                <a:spcPct val="120000"/>
              </a:lnSpc>
              <a:buSzPct val="100000"/>
              <a:buChar char="•"/>
            </a:pPr>
            <a:r>
              <a:rPr lang="en-US" sz="750" dirty="0">
                <a:solidFill>
                  <a:srgbClr val="2B2E3C"/>
                </a:solidFill>
                <a:latin typeface="Open Sans" pitchFamily="34" charset="0"/>
                <a:ea typeface="Open Sans" pitchFamily="34" charset="-122"/>
                <a:cs typeface="Open Sans" pitchFamily="34" charset="-120"/>
              </a:rPr>
              <a:t> (for 3DGS): scale, rotation (quaternion), opacity, and Spherical Harmonic coefficients</a:t>
            </a:r>
            <a:endParaRPr lang="en-US" sz="750" dirty="0"/>
          </a:p>
        </p:txBody>
      </p:sp>
      <p:sp>
        <p:nvSpPr>
          <p:cNvPr id="25" name="Text 23"/>
          <p:cNvSpPr/>
          <p:nvPr/>
        </p:nvSpPr>
        <p:spPr>
          <a:xfrm>
            <a:off x="4697313" y="3759547"/>
            <a:ext cx="3955331" cy="154409"/>
          </a:xfrm>
          <a:prstGeom prst="rect">
            <a:avLst/>
          </a:prstGeom>
          <a:noFill/>
          <a:ln/>
        </p:spPr>
        <p:txBody>
          <a:bodyPr wrap="none" lIns="0" tIns="0" rIns="0" bIns="0" rtlCol="0" anchor="t"/>
          <a:lstStyle/>
          <a:p>
            <a:pPr algn="l" indent="0" marL="0">
              <a:lnSpc>
                <a:spcPct val="104000"/>
              </a:lnSpc>
              <a:buNone/>
            </a:pPr>
            <a:r>
              <a:rPr lang="en-US" sz="950" dirty="0">
                <a:solidFill>
                  <a:srgbClr val="2C3F42"/>
                </a:solidFill>
                <a:latin typeface="Bitter Medium" pitchFamily="34" charset="0"/>
                <a:ea typeface="Bitter Medium" pitchFamily="34" charset="-122"/>
                <a:cs typeface="Bitter Medium" pitchFamily="34" charset="-120"/>
              </a:rPr>
              <a:t>Scene Statistics Computed</a:t>
            </a:r>
            <a:endParaRPr lang="en-US" sz="950" dirty="0"/>
          </a:p>
        </p:txBody>
      </p:sp>
      <p:sp>
        <p:nvSpPr>
          <p:cNvPr id="26" name="Text 24"/>
          <p:cNvSpPr/>
          <p:nvPr/>
        </p:nvSpPr>
        <p:spPr>
          <a:xfrm>
            <a:off x="4697313" y="3992687"/>
            <a:ext cx="3955331" cy="710282"/>
          </a:xfrm>
          <a:prstGeom prst="rect">
            <a:avLst/>
          </a:prstGeom>
          <a:noFill/>
          <a:ln/>
        </p:spPr>
        <p:txBody>
          <a:bodyPr wrap="square" lIns="0" tIns="0" rIns="0" bIns="0" rtlCol="0" anchor="t">
            <a:normAutofit/>
          </a:bodyPr>
          <a:lstStyle/>
          <a:p>
            <a:pPr algn="l" indent="0" marL="0">
              <a:lnSpc>
                <a:spcPct val="120000"/>
              </a:lnSpc>
              <a:buNone/>
            </a:pPr>
            <a:r>
              <a:rPr lang="en-US" sz="750" dirty="0">
                <a:solidFill>
                  <a:srgbClr val="2B2E3C"/>
                </a:solidFill>
                <a:latin typeface="Open Sans" pitchFamily="34" charset="0"/>
                <a:ea typeface="Open Sans" pitchFamily="34" charset="-122"/>
                <a:cs typeface="Open Sans" pitchFamily="34" charset="-120"/>
              </a:rPr>
              <a:t>Bounding box dimensions, scene scale, and centroid are computed automatically. Normals are estimated for inputs where they are unavailable. SH DC coefficients are converted to RGB for initial visualization. The output is a fully initialized scene containing the point cloud representation, original Gaussian attributes, and complete scene metadata.</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96119" y="463525"/>
            <a:ext cx="381074" cy="151507"/>
          </a:xfrm>
          <a:prstGeom prst="roundRect">
            <a:avLst>
              <a:gd name="adj" fmla="val 19773"/>
            </a:avLst>
          </a:prstGeom>
          <a:solidFill>
            <a:srgbClr val="FCE2CF"/>
          </a:solidFill>
          <a:ln/>
        </p:spPr>
      </p:sp>
      <p:sp>
        <p:nvSpPr>
          <p:cNvPr id="3" name="Text 1"/>
          <p:cNvSpPr/>
          <p:nvPr/>
        </p:nvSpPr>
        <p:spPr>
          <a:xfrm>
            <a:off x="549548" y="490240"/>
            <a:ext cx="731416" cy="98078"/>
          </a:xfrm>
          <a:prstGeom prst="rect">
            <a:avLst/>
          </a:prstGeom>
          <a:noFill/>
          <a:ln/>
        </p:spPr>
        <p:txBody>
          <a:bodyPr wrap="none" lIns="0" tIns="0" rIns="0" bIns="0" rtlCol="0" anchor="t"/>
          <a:lstStyle/>
          <a:p>
            <a:pPr algn="l" indent="0" marL="0">
              <a:lnSpc>
                <a:spcPct val="115000"/>
              </a:lnSpc>
              <a:buNone/>
            </a:pPr>
            <a:r>
              <a:rPr lang="en-US" sz="550" dirty="0">
                <a:solidFill>
                  <a:srgbClr val="2B2E3C"/>
                </a:solidFill>
                <a:latin typeface="Open Sans" pitchFamily="34" charset="0"/>
                <a:ea typeface="Open Sans" pitchFamily="34" charset="-122"/>
                <a:cs typeface="Open Sans" pitchFamily="34" charset="-120"/>
              </a:rPr>
              <a:t>STAGE 2</a:t>
            </a:r>
            <a:endParaRPr lang="en-US" sz="550" dirty="0"/>
          </a:p>
        </p:txBody>
      </p:sp>
      <p:sp>
        <p:nvSpPr>
          <p:cNvPr id="4" name="Text 2"/>
          <p:cNvSpPr/>
          <p:nvPr/>
        </p:nvSpPr>
        <p:spPr>
          <a:xfrm>
            <a:off x="496119" y="640631"/>
            <a:ext cx="8151763" cy="278532"/>
          </a:xfrm>
          <a:prstGeom prst="rect">
            <a:avLst/>
          </a:prstGeom>
          <a:noFill/>
          <a:ln/>
        </p:spPr>
        <p:txBody>
          <a:bodyPr wrap="none" lIns="0" tIns="0" rIns="0" bIns="0" rtlCol="0" anchor="t"/>
          <a:lstStyle/>
          <a:p>
            <a:pPr algn="l" indent="0" marL="0">
              <a:lnSpc>
                <a:spcPct val="104000"/>
              </a:lnSpc>
              <a:buNone/>
            </a:pPr>
            <a:r>
              <a:rPr lang="en-US" sz="1750" dirty="0">
                <a:solidFill>
                  <a:srgbClr val="2C3F42"/>
                </a:solidFill>
                <a:latin typeface="Bitter Medium" pitchFamily="34" charset="0"/>
                <a:ea typeface="Bitter Medium" pitchFamily="34" charset="-122"/>
                <a:cs typeface="Bitter Medium" pitchFamily="34" charset="-120"/>
              </a:rPr>
              <a:t>Scene Preprocessing</a:t>
            </a:r>
            <a:endParaRPr lang="en-US" sz="1750" dirty="0"/>
          </a:p>
        </p:txBody>
      </p:sp>
      <p:sp>
        <p:nvSpPr>
          <p:cNvPr id="5" name="Text 3"/>
          <p:cNvSpPr/>
          <p:nvPr/>
        </p:nvSpPr>
        <p:spPr>
          <a:xfrm>
            <a:off x="496119" y="1015231"/>
            <a:ext cx="8151763" cy="245120"/>
          </a:xfrm>
          <a:prstGeom prst="rect">
            <a:avLst/>
          </a:prstGeom>
          <a:noFill/>
          <a:ln/>
        </p:spPr>
        <p:txBody>
          <a:bodyPr wrap="square" lIns="0" tIns="0" rIns="0" bIns="0" rtlCol="0" anchor="t">
            <a:normAutofit/>
          </a:bodyPr>
          <a:lstStyle/>
          <a:p>
            <a:pPr algn="l" indent="0" marL="0">
              <a:lnSpc>
                <a:spcPct val="115000"/>
              </a:lnSpc>
              <a:buNone/>
            </a:pPr>
            <a:r>
              <a:rPr lang="en-US" sz="700" dirty="0">
                <a:solidFill>
                  <a:srgbClr val="2B2E3C"/>
                </a:solidFill>
                <a:latin typeface="Open Sans" pitchFamily="34" charset="0"/>
                <a:ea typeface="Open Sans" pitchFamily="34" charset="-122"/>
                <a:cs typeface="Open Sans" pitchFamily="34" charset="-120"/>
              </a:rPr>
              <a:t>Large indoor scans present a significant challenge: floors, walls, and noise create structural connectivity that prevents meaningful object segmentation. Running clustering algorithms directly on raw scans produces poor results because the floor physically connects multiple independent objects into a single component. Stage 2 systematically removes these confounding elements.</a:t>
            </a:r>
            <a:endParaRPr lang="en-US" sz="700" dirty="0"/>
          </a:p>
        </p:txBody>
      </p:sp>
      <p:sp>
        <p:nvSpPr>
          <p:cNvPr id="6" name="Text 4"/>
          <p:cNvSpPr/>
          <p:nvPr/>
        </p:nvSpPr>
        <p:spPr>
          <a:xfrm>
            <a:off x="496119" y="1396454"/>
            <a:ext cx="3967163" cy="139303"/>
          </a:xfrm>
          <a:prstGeom prst="rect">
            <a:avLst/>
          </a:prstGeom>
          <a:noFill/>
          <a:ln/>
        </p:spPr>
        <p:txBody>
          <a:bodyPr wrap="none" lIns="0" tIns="0" rIns="0" bIns="0" rtlCol="0" anchor="t"/>
          <a:lstStyle/>
          <a:p>
            <a:pPr algn="l" indent="0" marL="0">
              <a:lnSpc>
                <a:spcPct val="104000"/>
              </a:lnSpc>
              <a:buNone/>
            </a:pPr>
            <a:r>
              <a:rPr lang="en-US" sz="850" dirty="0">
                <a:solidFill>
                  <a:srgbClr val="2C3F42"/>
                </a:solidFill>
                <a:latin typeface="Bitter Medium" pitchFamily="34" charset="0"/>
                <a:ea typeface="Bitter Medium" pitchFamily="34" charset="-122"/>
                <a:cs typeface="Bitter Medium" pitchFamily="34" charset="-120"/>
              </a:rPr>
              <a:t>Preprocessing Steps</a:t>
            </a:r>
            <a:endParaRPr lang="en-US" sz="850" dirty="0"/>
          </a:p>
        </p:txBody>
      </p:sp>
      <p:pic>
        <p:nvPicPr>
          <p:cNvPr id="7"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29530" y="1610506"/>
            <a:ext cx="133722" cy="133722"/>
          </a:xfrm>
          <a:prstGeom prst="rect">
            <a:avLst/>
          </a:prstGeom>
        </p:spPr>
      </p:pic>
      <p:sp>
        <p:nvSpPr>
          <p:cNvPr id="8" name="Text 5"/>
          <p:cNvSpPr/>
          <p:nvPr/>
        </p:nvSpPr>
        <p:spPr>
          <a:xfrm>
            <a:off x="785813" y="1607790"/>
            <a:ext cx="3677469" cy="139303"/>
          </a:xfrm>
          <a:prstGeom prst="rect">
            <a:avLst/>
          </a:prstGeom>
          <a:noFill/>
          <a:ln/>
        </p:spPr>
        <p:txBody>
          <a:bodyPr wrap="none" lIns="0" tIns="0" rIns="0" bIns="0" rtlCol="0" anchor="t"/>
          <a:lstStyle/>
          <a:p>
            <a:pPr algn="l" indent="0" marL="0">
              <a:lnSpc>
                <a:spcPct val="104000"/>
              </a:lnSpc>
              <a:buNone/>
            </a:pPr>
            <a:r>
              <a:rPr lang="en-US" sz="850" dirty="0">
                <a:solidFill>
                  <a:srgbClr val="2B2E3C"/>
                </a:solidFill>
                <a:latin typeface="Bitter Medium" pitchFamily="34" charset="0"/>
                <a:ea typeface="Bitter Medium" pitchFamily="34" charset="-122"/>
                <a:cs typeface="Bitter Medium" pitchFamily="34" charset="-120"/>
              </a:rPr>
              <a:t>Plane Segmentation (RANSAC)</a:t>
            </a:r>
            <a:endParaRPr lang="en-US" sz="850" dirty="0"/>
          </a:p>
        </p:txBody>
      </p:sp>
      <p:sp>
        <p:nvSpPr>
          <p:cNvPr id="9" name="Text 6"/>
          <p:cNvSpPr/>
          <p:nvPr/>
        </p:nvSpPr>
        <p:spPr>
          <a:xfrm>
            <a:off x="785813" y="1811164"/>
            <a:ext cx="3677469" cy="367680"/>
          </a:xfrm>
          <a:prstGeom prst="rect">
            <a:avLst/>
          </a:prstGeom>
          <a:noFill/>
          <a:ln/>
        </p:spPr>
        <p:txBody>
          <a:bodyPr wrap="square" lIns="0" tIns="0" rIns="0" bIns="0" rtlCol="0" anchor="t">
            <a:normAutofit/>
          </a:bodyPr>
          <a:lstStyle/>
          <a:p>
            <a:pPr algn="l" indent="0" marL="0">
              <a:lnSpc>
                <a:spcPct val="115000"/>
              </a:lnSpc>
              <a:buNone/>
            </a:pPr>
            <a:r>
              <a:rPr lang="en-US" sz="700" dirty="0">
                <a:solidFill>
                  <a:srgbClr val="2B2E3C"/>
                </a:solidFill>
                <a:latin typeface="Open Sans" pitchFamily="34" charset="0"/>
                <a:ea typeface="Open Sans" pitchFamily="34" charset="-122"/>
                <a:cs typeface="Open Sans" pitchFamily="34" charset="-120"/>
              </a:rPr>
              <a:t>The dominant ground plane is detected using RANSAC-based plane fitting. The floor is temporarily removed from the point cloud, breaking the structural connectivity between objects that would otherwise prevent clean segmentation.</a:t>
            </a:r>
            <a:endParaRPr lang="en-US" sz="700" dirty="0"/>
          </a:p>
        </p:txBody>
      </p:sp>
      <p:pic>
        <p:nvPicPr>
          <p:cNvPr id="10"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9530" y="2309701"/>
            <a:ext cx="133722" cy="133722"/>
          </a:xfrm>
          <a:prstGeom prst="rect">
            <a:avLst/>
          </a:prstGeom>
        </p:spPr>
      </p:pic>
      <p:sp>
        <p:nvSpPr>
          <p:cNvPr id="11" name="Text 7"/>
          <p:cNvSpPr/>
          <p:nvPr/>
        </p:nvSpPr>
        <p:spPr>
          <a:xfrm>
            <a:off x="785813" y="2306985"/>
            <a:ext cx="3677469" cy="139303"/>
          </a:xfrm>
          <a:prstGeom prst="rect">
            <a:avLst/>
          </a:prstGeom>
          <a:noFill/>
          <a:ln/>
        </p:spPr>
        <p:txBody>
          <a:bodyPr wrap="none" lIns="0" tIns="0" rIns="0" bIns="0" rtlCol="0" anchor="t"/>
          <a:lstStyle/>
          <a:p>
            <a:pPr algn="l" indent="0" marL="0">
              <a:lnSpc>
                <a:spcPct val="104000"/>
              </a:lnSpc>
              <a:buNone/>
            </a:pPr>
            <a:r>
              <a:rPr lang="en-US" sz="850" dirty="0">
                <a:solidFill>
                  <a:srgbClr val="2B2E3C"/>
                </a:solidFill>
                <a:latin typeface="Bitter Medium" pitchFamily="34" charset="0"/>
                <a:ea typeface="Bitter Medium" pitchFamily="34" charset="-122"/>
                <a:cs typeface="Bitter Medium" pitchFamily="34" charset="-120"/>
              </a:rPr>
              <a:t>Noise Filtering</a:t>
            </a:r>
            <a:endParaRPr lang="en-US" sz="850" dirty="0"/>
          </a:p>
        </p:txBody>
      </p:sp>
      <p:sp>
        <p:nvSpPr>
          <p:cNvPr id="12" name="Text 8"/>
          <p:cNvSpPr/>
          <p:nvPr/>
        </p:nvSpPr>
        <p:spPr>
          <a:xfrm>
            <a:off x="785813" y="2510358"/>
            <a:ext cx="3677469" cy="245120"/>
          </a:xfrm>
          <a:prstGeom prst="rect">
            <a:avLst/>
          </a:prstGeom>
          <a:noFill/>
          <a:ln/>
        </p:spPr>
        <p:txBody>
          <a:bodyPr wrap="square" lIns="0" tIns="0" rIns="0" bIns="0" rtlCol="0" anchor="t">
            <a:normAutofit/>
          </a:bodyPr>
          <a:lstStyle/>
          <a:p>
            <a:pPr algn="l" indent="0" marL="0">
              <a:lnSpc>
                <a:spcPct val="115000"/>
              </a:lnSpc>
              <a:buNone/>
            </a:pPr>
            <a:r>
              <a:rPr lang="en-US" sz="700" dirty="0">
                <a:solidFill>
                  <a:srgbClr val="2B2E3C"/>
                </a:solidFill>
                <a:latin typeface="Open Sans" pitchFamily="34" charset="0"/>
                <a:ea typeface="Open Sans" pitchFamily="34" charset="-122"/>
                <a:cs typeface="Open Sans" pitchFamily="34" charset="-120"/>
              </a:rPr>
              <a:t>Outlier points and sensor noise are filtered using statistical methods. Points with insufficient local support are removed to improve clustering quality downstream.</a:t>
            </a:r>
            <a:endParaRPr lang="en-US" sz="700" dirty="0"/>
          </a:p>
        </p:txBody>
      </p:sp>
      <p:pic>
        <p:nvPicPr>
          <p:cNvPr id="13"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9530" y="2886335"/>
            <a:ext cx="133722" cy="133722"/>
          </a:xfrm>
          <a:prstGeom prst="rect">
            <a:avLst/>
          </a:prstGeom>
        </p:spPr>
      </p:pic>
      <p:sp>
        <p:nvSpPr>
          <p:cNvPr id="14" name="Text 9"/>
          <p:cNvSpPr/>
          <p:nvPr/>
        </p:nvSpPr>
        <p:spPr>
          <a:xfrm>
            <a:off x="785813" y="2883619"/>
            <a:ext cx="3677469" cy="139303"/>
          </a:xfrm>
          <a:prstGeom prst="rect">
            <a:avLst/>
          </a:prstGeom>
          <a:noFill/>
          <a:ln/>
        </p:spPr>
        <p:txBody>
          <a:bodyPr wrap="none" lIns="0" tIns="0" rIns="0" bIns="0" rtlCol="0" anchor="t"/>
          <a:lstStyle/>
          <a:p>
            <a:pPr algn="l" indent="0" marL="0">
              <a:lnSpc>
                <a:spcPct val="104000"/>
              </a:lnSpc>
              <a:buNone/>
            </a:pPr>
            <a:r>
              <a:rPr lang="en-US" sz="850" dirty="0">
                <a:solidFill>
                  <a:srgbClr val="2B2E3C"/>
                </a:solidFill>
                <a:latin typeface="Bitter Medium" pitchFamily="34" charset="0"/>
                <a:ea typeface="Bitter Medium" pitchFamily="34" charset="-122"/>
                <a:cs typeface="Bitter Medium" pitchFamily="34" charset="-120"/>
              </a:rPr>
              <a:t>Normal Estimation</a:t>
            </a:r>
            <a:endParaRPr lang="en-US" sz="850" dirty="0"/>
          </a:p>
        </p:txBody>
      </p:sp>
      <p:sp>
        <p:nvSpPr>
          <p:cNvPr id="15" name="Text 10"/>
          <p:cNvSpPr/>
          <p:nvPr/>
        </p:nvSpPr>
        <p:spPr>
          <a:xfrm>
            <a:off x="785813" y="3086993"/>
            <a:ext cx="3677469" cy="367680"/>
          </a:xfrm>
          <a:prstGeom prst="rect">
            <a:avLst/>
          </a:prstGeom>
          <a:noFill/>
          <a:ln/>
        </p:spPr>
        <p:txBody>
          <a:bodyPr wrap="square" lIns="0" tIns="0" rIns="0" bIns="0" rtlCol="0" anchor="t">
            <a:normAutofit/>
          </a:bodyPr>
          <a:lstStyle/>
          <a:p>
            <a:pPr algn="l" indent="0" marL="0">
              <a:lnSpc>
                <a:spcPct val="115000"/>
              </a:lnSpc>
              <a:buNone/>
            </a:pPr>
            <a:r>
              <a:rPr lang="en-US" sz="700" dirty="0">
                <a:solidFill>
                  <a:srgbClr val="2B2E3C"/>
                </a:solidFill>
                <a:latin typeface="Open Sans" pitchFamily="34" charset="0"/>
                <a:ea typeface="Open Sans" pitchFamily="34" charset="-122"/>
                <a:cs typeface="Open Sans" pitchFamily="34" charset="-120"/>
              </a:rPr>
              <a:t>For points without pre-computed normals, surface normals are estimated using local neighborhood analysis via KD-Tree queries, enabling geometry-aware processing in later stages.</a:t>
            </a:r>
            <a:endParaRPr lang="en-US" sz="700" dirty="0"/>
          </a:p>
        </p:txBody>
      </p:sp>
      <p:pic>
        <p:nvPicPr>
          <p:cNvPr id="16"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29530" y="3585530"/>
            <a:ext cx="133722" cy="133722"/>
          </a:xfrm>
          <a:prstGeom prst="rect">
            <a:avLst/>
          </a:prstGeom>
        </p:spPr>
      </p:pic>
      <p:sp>
        <p:nvSpPr>
          <p:cNvPr id="17" name="Text 11"/>
          <p:cNvSpPr/>
          <p:nvPr/>
        </p:nvSpPr>
        <p:spPr>
          <a:xfrm>
            <a:off x="785813" y="3582814"/>
            <a:ext cx="3677469" cy="139303"/>
          </a:xfrm>
          <a:prstGeom prst="rect">
            <a:avLst/>
          </a:prstGeom>
          <a:noFill/>
          <a:ln/>
        </p:spPr>
        <p:txBody>
          <a:bodyPr wrap="none" lIns="0" tIns="0" rIns="0" bIns="0" rtlCol="0" anchor="t"/>
          <a:lstStyle/>
          <a:p>
            <a:pPr algn="l" indent="0" marL="0">
              <a:lnSpc>
                <a:spcPct val="104000"/>
              </a:lnSpc>
              <a:buNone/>
            </a:pPr>
            <a:r>
              <a:rPr lang="en-US" sz="850" dirty="0">
                <a:solidFill>
                  <a:srgbClr val="2B2E3C"/>
                </a:solidFill>
                <a:latin typeface="Bitter Medium" pitchFamily="34" charset="0"/>
                <a:ea typeface="Bitter Medium" pitchFamily="34" charset="-122"/>
                <a:cs typeface="Bitter Medium" pitchFamily="34" charset="-120"/>
              </a:rPr>
              <a:t>KD-Tree Construction</a:t>
            </a:r>
            <a:endParaRPr lang="en-US" sz="850" dirty="0"/>
          </a:p>
        </p:txBody>
      </p:sp>
      <p:sp>
        <p:nvSpPr>
          <p:cNvPr id="18" name="Text 12"/>
          <p:cNvSpPr/>
          <p:nvPr/>
        </p:nvSpPr>
        <p:spPr>
          <a:xfrm>
            <a:off x="785813" y="3786188"/>
            <a:ext cx="3677469" cy="245120"/>
          </a:xfrm>
          <a:prstGeom prst="rect">
            <a:avLst/>
          </a:prstGeom>
          <a:noFill/>
          <a:ln/>
        </p:spPr>
        <p:txBody>
          <a:bodyPr wrap="square" lIns="0" tIns="0" rIns="0" bIns="0" rtlCol="0" anchor="t">
            <a:normAutofit/>
          </a:bodyPr>
          <a:lstStyle/>
          <a:p>
            <a:pPr algn="l" indent="0" marL="0">
              <a:lnSpc>
                <a:spcPct val="115000"/>
              </a:lnSpc>
              <a:buNone/>
            </a:pPr>
            <a:r>
              <a:rPr lang="en-US" sz="700" dirty="0">
                <a:solidFill>
                  <a:srgbClr val="2B2E3C"/>
                </a:solidFill>
                <a:latin typeface="Open Sans" pitchFamily="34" charset="0"/>
                <a:ea typeface="Open Sans" pitchFamily="34" charset="-122"/>
                <a:cs typeface="Open Sans" pitchFamily="34" charset="-120"/>
              </a:rPr>
              <a:t>A KD-Tree is built over the cleaned point cloud to enable efficient O(log N) neighborhood searches, which are critical for both DBSCAN clustering and normal estimation.</a:t>
            </a:r>
            <a:endParaRPr lang="en-US" sz="700" dirty="0"/>
          </a:p>
        </p:txBody>
      </p:sp>
      <p:pic>
        <p:nvPicPr>
          <p:cNvPr id="19" name="Image 4" descr="preencoded.png">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529530" y="4162165"/>
            <a:ext cx="133722" cy="133722"/>
          </a:xfrm>
          <a:prstGeom prst="rect">
            <a:avLst/>
          </a:prstGeom>
        </p:spPr>
      </p:pic>
      <p:sp>
        <p:nvSpPr>
          <p:cNvPr id="20" name="Text 13"/>
          <p:cNvSpPr/>
          <p:nvPr/>
        </p:nvSpPr>
        <p:spPr>
          <a:xfrm>
            <a:off x="785813" y="4159448"/>
            <a:ext cx="3677469" cy="139303"/>
          </a:xfrm>
          <a:prstGeom prst="rect">
            <a:avLst/>
          </a:prstGeom>
          <a:noFill/>
          <a:ln/>
        </p:spPr>
        <p:txBody>
          <a:bodyPr wrap="none" lIns="0" tIns="0" rIns="0" bIns="0" rtlCol="0" anchor="t"/>
          <a:lstStyle/>
          <a:p>
            <a:pPr algn="l" indent="0" marL="0">
              <a:lnSpc>
                <a:spcPct val="104000"/>
              </a:lnSpc>
              <a:buNone/>
            </a:pPr>
            <a:r>
              <a:rPr lang="en-US" sz="850" dirty="0">
                <a:solidFill>
                  <a:srgbClr val="2B2E3C"/>
                </a:solidFill>
                <a:latin typeface="Bitter Medium" pitchFamily="34" charset="0"/>
                <a:ea typeface="Bitter Medium" pitchFamily="34" charset="-122"/>
                <a:cs typeface="Bitter Medium" pitchFamily="34" charset="-120"/>
              </a:rPr>
              <a:t>Color Normalization</a:t>
            </a:r>
            <a:endParaRPr lang="en-US" sz="850" dirty="0"/>
          </a:p>
        </p:txBody>
      </p:sp>
      <p:sp>
        <p:nvSpPr>
          <p:cNvPr id="21" name="Text 14"/>
          <p:cNvSpPr/>
          <p:nvPr/>
        </p:nvSpPr>
        <p:spPr>
          <a:xfrm>
            <a:off x="785813" y="4362822"/>
            <a:ext cx="3677469" cy="245120"/>
          </a:xfrm>
          <a:prstGeom prst="rect">
            <a:avLst/>
          </a:prstGeom>
          <a:noFill/>
          <a:ln/>
        </p:spPr>
        <p:txBody>
          <a:bodyPr wrap="square" lIns="0" tIns="0" rIns="0" bIns="0" rtlCol="0" anchor="t">
            <a:normAutofit/>
          </a:bodyPr>
          <a:lstStyle/>
          <a:p>
            <a:pPr algn="l" indent="0" marL="0">
              <a:lnSpc>
                <a:spcPct val="115000"/>
              </a:lnSpc>
              <a:buNone/>
            </a:pPr>
            <a:r>
              <a:rPr lang="en-US" sz="700" dirty="0">
                <a:solidFill>
                  <a:srgbClr val="2B2E3C"/>
                </a:solidFill>
                <a:latin typeface="Open Sans" pitchFamily="34" charset="0"/>
                <a:ea typeface="Open Sans" pitchFamily="34" charset="-122"/>
                <a:cs typeface="Open Sans" pitchFamily="34" charset="-120"/>
              </a:rPr>
              <a:t>RGB values are normalized to a consistent range, ensuring uniform color processing across different capture devices and lighting conditions.</a:t>
            </a:r>
            <a:endParaRPr lang="en-US" sz="700" dirty="0"/>
          </a:p>
        </p:txBody>
      </p:sp>
      <p:sp>
        <p:nvSpPr>
          <p:cNvPr id="22" name="Text 15"/>
          <p:cNvSpPr/>
          <p:nvPr/>
        </p:nvSpPr>
        <p:spPr>
          <a:xfrm>
            <a:off x="4685481" y="1396454"/>
            <a:ext cx="3967163" cy="139303"/>
          </a:xfrm>
          <a:prstGeom prst="rect">
            <a:avLst/>
          </a:prstGeom>
          <a:noFill/>
          <a:ln/>
        </p:spPr>
        <p:txBody>
          <a:bodyPr wrap="none" lIns="0" tIns="0" rIns="0" bIns="0" rtlCol="0" anchor="t"/>
          <a:lstStyle/>
          <a:p>
            <a:pPr algn="l" indent="0" marL="0">
              <a:lnSpc>
                <a:spcPct val="104000"/>
              </a:lnSpc>
              <a:buNone/>
            </a:pPr>
            <a:r>
              <a:rPr lang="en-US" sz="850" dirty="0">
                <a:solidFill>
                  <a:srgbClr val="2C3F42"/>
                </a:solidFill>
                <a:latin typeface="Bitter Medium" pitchFamily="34" charset="0"/>
                <a:ea typeface="Bitter Medium" pitchFamily="34" charset="-122"/>
                <a:cs typeface="Bitter Medium" pitchFamily="34" charset="-120"/>
              </a:rPr>
              <a:t>Algorithms Used</a:t>
            </a:r>
            <a:endParaRPr lang="en-US" sz="850" dirty="0"/>
          </a:p>
        </p:txBody>
      </p:sp>
      <p:pic>
        <p:nvPicPr>
          <p:cNvPr id="23" name="Image 5"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4685481" y="1607790"/>
            <a:ext cx="3967163" cy="523280"/>
          </a:xfrm>
          <a:prstGeom prst="rect">
            <a:avLst/>
          </a:prstGeom>
        </p:spPr>
      </p:pic>
      <p:sp>
        <p:nvSpPr>
          <p:cNvPr id="24" name="Text 16"/>
          <p:cNvSpPr/>
          <p:nvPr/>
        </p:nvSpPr>
        <p:spPr>
          <a:xfrm>
            <a:off x="4822254" y="1706463"/>
            <a:ext cx="3731716" cy="139303"/>
          </a:xfrm>
          <a:prstGeom prst="rect">
            <a:avLst/>
          </a:prstGeom>
          <a:noFill/>
          <a:ln/>
        </p:spPr>
        <p:txBody>
          <a:bodyPr wrap="none" lIns="0" tIns="0" rIns="0" bIns="0" rtlCol="0" anchor="t"/>
          <a:lstStyle/>
          <a:p>
            <a:pPr algn="l" indent="0" marL="0">
              <a:lnSpc>
                <a:spcPct val="104000"/>
              </a:lnSpc>
              <a:buNone/>
            </a:pPr>
            <a:r>
              <a:rPr lang="en-US" sz="850" dirty="0">
                <a:solidFill>
                  <a:srgbClr val="2B2E3C"/>
                </a:solidFill>
                <a:latin typeface="Bitter Medium" pitchFamily="34" charset="0"/>
                <a:ea typeface="Bitter Medium" pitchFamily="34" charset="-122"/>
                <a:cs typeface="Bitter Medium" pitchFamily="34" charset="-120"/>
              </a:rPr>
              <a:t>RANSAC Plane Segmentation</a:t>
            </a:r>
            <a:endParaRPr lang="en-US" sz="850" dirty="0"/>
          </a:p>
        </p:txBody>
      </p:sp>
      <p:sp>
        <p:nvSpPr>
          <p:cNvPr id="25" name="Text 17"/>
          <p:cNvSpPr/>
          <p:nvPr/>
        </p:nvSpPr>
        <p:spPr>
          <a:xfrm>
            <a:off x="4822254" y="1909837"/>
            <a:ext cx="3731716" cy="122560"/>
          </a:xfrm>
          <a:prstGeom prst="rect">
            <a:avLst/>
          </a:prstGeom>
          <a:noFill/>
          <a:ln/>
        </p:spPr>
        <p:txBody>
          <a:bodyPr wrap="none" lIns="0" tIns="0" rIns="0" bIns="0" rtlCol="0" anchor="t"/>
          <a:lstStyle/>
          <a:p>
            <a:pPr algn="l" indent="0" marL="0">
              <a:lnSpc>
                <a:spcPct val="115000"/>
              </a:lnSpc>
              <a:buNone/>
            </a:pPr>
            <a:r>
              <a:rPr lang="en-US" sz="700" dirty="0">
                <a:solidFill>
                  <a:srgbClr val="2B2E3C"/>
                </a:solidFill>
                <a:latin typeface="Open Sans" pitchFamily="34" charset="0"/>
                <a:ea typeface="Open Sans" pitchFamily="34" charset="-122"/>
                <a:cs typeface="Open Sans" pitchFamily="34" charset="-120"/>
              </a:rPr>
              <a:t>Robust model fitting for dominant plane detection in noisy 3D data</a:t>
            </a:r>
            <a:endParaRPr lang="en-US" sz="700" dirty="0"/>
          </a:p>
        </p:txBody>
      </p:sp>
      <p:pic>
        <p:nvPicPr>
          <p:cNvPr id="26" name="Image 6" descr="preencoded.png">    </p:cNvPr>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4685481" y="2195140"/>
            <a:ext cx="3967163" cy="523280"/>
          </a:xfrm>
          <a:prstGeom prst="rect">
            <a:avLst/>
          </a:prstGeom>
        </p:spPr>
      </p:pic>
      <p:sp>
        <p:nvSpPr>
          <p:cNvPr id="27" name="Text 18"/>
          <p:cNvSpPr/>
          <p:nvPr/>
        </p:nvSpPr>
        <p:spPr>
          <a:xfrm>
            <a:off x="4822254" y="2293813"/>
            <a:ext cx="3731716" cy="139303"/>
          </a:xfrm>
          <a:prstGeom prst="rect">
            <a:avLst/>
          </a:prstGeom>
          <a:noFill/>
          <a:ln/>
        </p:spPr>
        <p:txBody>
          <a:bodyPr wrap="none" lIns="0" tIns="0" rIns="0" bIns="0" rtlCol="0" anchor="t"/>
          <a:lstStyle/>
          <a:p>
            <a:pPr algn="l" indent="0" marL="0">
              <a:lnSpc>
                <a:spcPct val="104000"/>
              </a:lnSpc>
              <a:buNone/>
            </a:pPr>
            <a:r>
              <a:rPr lang="en-US" sz="850" dirty="0">
                <a:solidFill>
                  <a:srgbClr val="2B2E3C"/>
                </a:solidFill>
                <a:latin typeface="Bitter Medium" pitchFamily="34" charset="0"/>
                <a:ea typeface="Bitter Medium" pitchFamily="34" charset="-122"/>
                <a:cs typeface="Bitter Medium" pitchFamily="34" charset="-120"/>
              </a:rPr>
              <a:t>KD-Tree</a:t>
            </a:r>
            <a:endParaRPr lang="en-US" sz="850" dirty="0"/>
          </a:p>
        </p:txBody>
      </p:sp>
      <p:sp>
        <p:nvSpPr>
          <p:cNvPr id="28" name="Text 19"/>
          <p:cNvSpPr/>
          <p:nvPr/>
        </p:nvSpPr>
        <p:spPr>
          <a:xfrm>
            <a:off x="4822254" y="2497187"/>
            <a:ext cx="3731716" cy="122560"/>
          </a:xfrm>
          <a:prstGeom prst="rect">
            <a:avLst/>
          </a:prstGeom>
          <a:noFill/>
          <a:ln/>
        </p:spPr>
        <p:txBody>
          <a:bodyPr wrap="none" lIns="0" tIns="0" rIns="0" bIns="0" rtlCol="0" anchor="t"/>
          <a:lstStyle/>
          <a:p>
            <a:pPr algn="l" indent="0" marL="0">
              <a:lnSpc>
                <a:spcPct val="115000"/>
              </a:lnSpc>
              <a:buNone/>
            </a:pPr>
            <a:r>
              <a:rPr lang="en-US" sz="700" dirty="0">
                <a:solidFill>
                  <a:srgbClr val="2B2E3C"/>
                </a:solidFill>
                <a:latin typeface="Open Sans" pitchFamily="34" charset="0"/>
                <a:ea typeface="Open Sans" pitchFamily="34" charset="-122"/>
                <a:cs typeface="Open Sans" pitchFamily="34" charset="-120"/>
              </a:rPr>
              <a:t>Spatial indexing structure for fast nearest-neighbor queries</a:t>
            </a:r>
            <a:endParaRPr lang="en-US" sz="700" dirty="0"/>
          </a:p>
        </p:txBody>
      </p:sp>
      <p:pic>
        <p:nvPicPr>
          <p:cNvPr id="29" name="Image 7" descr="preencoded.png">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685481" y="2782491"/>
            <a:ext cx="3967163" cy="523280"/>
          </a:xfrm>
          <a:prstGeom prst="rect">
            <a:avLst/>
          </a:prstGeom>
        </p:spPr>
      </p:pic>
      <p:sp>
        <p:nvSpPr>
          <p:cNvPr id="30" name="Text 20"/>
          <p:cNvSpPr/>
          <p:nvPr/>
        </p:nvSpPr>
        <p:spPr>
          <a:xfrm>
            <a:off x="4822254" y="2881164"/>
            <a:ext cx="3731716" cy="139303"/>
          </a:xfrm>
          <a:prstGeom prst="rect">
            <a:avLst/>
          </a:prstGeom>
          <a:noFill/>
          <a:ln/>
        </p:spPr>
        <p:txBody>
          <a:bodyPr wrap="none" lIns="0" tIns="0" rIns="0" bIns="0" rtlCol="0" anchor="t"/>
          <a:lstStyle/>
          <a:p>
            <a:pPr algn="l" indent="0" marL="0">
              <a:lnSpc>
                <a:spcPct val="104000"/>
              </a:lnSpc>
              <a:buNone/>
            </a:pPr>
            <a:r>
              <a:rPr lang="en-US" sz="850" dirty="0">
                <a:solidFill>
                  <a:srgbClr val="2B2E3C"/>
                </a:solidFill>
                <a:latin typeface="Bitter Medium" pitchFamily="34" charset="0"/>
                <a:ea typeface="Bitter Medium" pitchFamily="34" charset="-122"/>
                <a:cs typeface="Bitter Medium" pitchFamily="34" charset="-120"/>
              </a:rPr>
              <a:t>PCA Normal Estimation</a:t>
            </a:r>
            <a:endParaRPr lang="en-US" sz="850" dirty="0"/>
          </a:p>
        </p:txBody>
      </p:sp>
      <p:sp>
        <p:nvSpPr>
          <p:cNvPr id="31" name="Text 21"/>
          <p:cNvSpPr/>
          <p:nvPr/>
        </p:nvSpPr>
        <p:spPr>
          <a:xfrm>
            <a:off x="4822254" y="3084537"/>
            <a:ext cx="3731716" cy="122560"/>
          </a:xfrm>
          <a:prstGeom prst="rect">
            <a:avLst/>
          </a:prstGeom>
          <a:noFill/>
          <a:ln/>
        </p:spPr>
        <p:txBody>
          <a:bodyPr wrap="none" lIns="0" tIns="0" rIns="0" bIns="0" rtlCol="0" anchor="t"/>
          <a:lstStyle/>
          <a:p>
            <a:pPr algn="l" indent="0" marL="0">
              <a:lnSpc>
                <a:spcPct val="115000"/>
              </a:lnSpc>
              <a:buNone/>
            </a:pPr>
            <a:r>
              <a:rPr lang="en-US" sz="700" dirty="0">
                <a:solidFill>
                  <a:srgbClr val="2B2E3C"/>
                </a:solidFill>
                <a:latin typeface="Open Sans" pitchFamily="34" charset="0"/>
                <a:ea typeface="Open Sans" pitchFamily="34" charset="-122"/>
                <a:cs typeface="Open Sans" pitchFamily="34" charset="-120"/>
              </a:rPr>
              <a:t>Local surface normal computation via eigendecomposition of covariance</a:t>
            </a:r>
            <a:endParaRPr lang="en-US" sz="700" dirty="0"/>
          </a:p>
        </p:txBody>
      </p:sp>
      <p:sp>
        <p:nvSpPr>
          <p:cNvPr id="32" name="Shape 22"/>
          <p:cNvSpPr/>
          <p:nvPr/>
        </p:nvSpPr>
        <p:spPr>
          <a:xfrm>
            <a:off x="4685481" y="3377803"/>
            <a:ext cx="3967163" cy="527521"/>
          </a:xfrm>
          <a:prstGeom prst="roundRect">
            <a:avLst>
              <a:gd name="adj" fmla="val 7099"/>
            </a:avLst>
          </a:prstGeom>
          <a:solidFill>
            <a:srgbClr val="FCE2CF"/>
          </a:solidFill>
          <a:ln/>
        </p:spPr>
      </p:sp>
      <p:pic>
        <p:nvPicPr>
          <p:cNvPr id="33" name="Image 8" descr="preencoded.png">    </p:cNvPr>
          <p:cNvPicPr>
            <a:picLocks noChangeAspect="1"/>
          </p:cNvPicPr>
          <p:nvPr/>
        </p:nvPicPr>
        <p:blipFill>
          <a:blip r:embed="rId17"/>
          <a:stretch>
            <a:fillRect/>
          </a:stretch>
        </p:blipFill>
        <p:spPr>
          <a:xfrm>
            <a:off x="4774629" y="3506391"/>
            <a:ext cx="111398" cy="89148"/>
          </a:xfrm>
          <a:prstGeom prst="rect">
            <a:avLst/>
          </a:prstGeom>
        </p:spPr>
      </p:pic>
      <p:sp>
        <p:nvSpPr>
          <p:cNvPr id="34" name="Text 23"/>
          <p:cNvSpPr/>
          <p:nvPr/>
        </p:nvSpPr>
        <p:spPr>
          <a:xfrm>
            <a:off x="4975175" y="3457724"/>
            <a:ext cx="3588321" cy="367680"/>
          </a:xfrm>
          <a:prstGeom prst="rect">
            <a:avLst/>
          </a:prstGeom>
          <a:noFill/>
          <a:ln/>
        </p:spPr>
        <p:txBody>
          <a:bodyPr wrap="square" lIns="0" tIns="0" rIns="0" bIns="0" rtlCol="0" anchor="t">
            <a:normAutofit/>
          </a:bodyPr>
          <a:lstStyle/>
          <a:p>
            <a:pPr algn="l" indent="0" marL="0">
              <a:lnSpc>
                <a:spcPct val="115000"/>
              </a:lnSpc>
              <a:buNone/>
            </a:pPr>
            <a:r>
              <a:rPr lang="en-US" sz="700" b="1" dirty="0">
                <a:solidFill>
                  <a:srgbClr val="000000"/>
                </a:solidFill>
                <a:latin typeface="Open Sans Bold" pitchFamily="34" charset="0"/>
                <a:ea typeface="Open Sans Bold" pitchFamily="34" charset="-122"/>
                <a:cs typeface="Open Sans Bold" pitchFamily="34" charset="-120"/>
              </a:rPr>
              <a:t>Key Insight:</a:t>
            </a:r>
            <a:pPr algn="l" indent="0" marL="0">
              <a:lnSpc>
                <a:spcPct val="115000"/>
              </a:lnSpc>
              <a:buNone/>
            </a:pPr>
            <a:r>
              <a:rPr lang="en-US" sz="700" dirty="0">
                <a:solidFill>
                  <a:srgbClr val="000000"/>
                </a:solidFill>
                <a:latin typeface="Open Sans" pitchFamily="34" charset="0"/>
                <a:ea typeface="Open Sans" pitchFamily="34" charset="-122"/>
                <a:cs typeface="Open Sans" pitchFamily="34" charset="-120"/>
              </a:rPr>
              <a:t> Automatic epsilon estimation for DBSCAN is computed based on the k-distance graph of the preprocessed point cloud, allowing the pipeline to adapt to scenes of varying density without manual tuning.</a:t>
            </a:r>
            <a:endParaRPr lang="en-US" sz="7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96119" y="341263"/>
            <a:ext cx="480566" cy="204564"/>
          </a:xfrm>
          <a:prstGeom prst="roundRect">
            <a:avLst>
              <a:gd name="adj" fmla="val 18465"/>
            </a:avLst>
          </a:prstGeom>
          <a:solidFill>
            <a:srgbClr val="FCE2CF"/>
          </a:solidFill>
          <a:ln/>
        </p:spPr>
      </p:sp>
      <p:sp>
        <p:nvSpPr>
          <p:cNvPr id="3" name="Text 1"/>
          <p:cNvSpPr/>
          <p:nvPr/>
        </p:nvSpPr>
        <p:spPr>
          <a:xfrm>
            <a:off x="563538" y="374972"/>
            <a:ext cx="802928" cy="137145"/>
          </a:xfrm>
          <a:prstGeom prst="rect">
            <a:avLst/>
          </a:prstGeom>
          <a:noFill/>
          <a:ln/>
        </p:spPr>
        <p:txBody>
          <a:bodyPr wrap="none" lIns="0" tIns="0" rIns="0" bIns="0" rtlCol="0" anchor="t"/>
          <a:lstStyle/>
          <a:p>
            <a:pPr algn="l" indent="0" marL="0">
              <a:lnSpc>
                <a:spcPct val="127000"/>
              </a:lnSpc>
              <a:buNone/>
            </a:pPr>
            <a:r>
              <a:rPr lang="en-US" sz="700" dirty="0">
                <a:solidFill>
                  <a:srgbClr val="2B2E3C"/>
                </a:solidFill>
                <a:latin typeface="Open Sans" pitchFamily="34" charset="0"/>
                <a:ea typeface="Open Sans" pitchFamily="34" charset="-122"/>
                <a:cs typeface="Open Sans" pitchFamily="34" charset="-120"/>
              </a:rPr>
              <a:t>STAGE 3</a:t>
            </a:r>
            <a:endParaRPr lang="en-US" sz="700" dirty="0"/>
          </a:p>
        </p:txBody>
      </p:sp>
      <p:sp>
        <p:nvSpPr>
          <p:cNvPr id="4" name="Shape 2"/>
          <p:cNvSpPr/>
          <p:nvPr/>
        </p:nvSpPr>
        <p:spPr>
          <a:xfrm>
            <a:off x="1032867" y="341263"/>
            <a:ext cx="480566" cy="204564"/>
          </a:xfrm>
          <a:prstGeom prst="roundRect">
            <a:avLst>
              <a:gd name="adj" fmla="val 18465"/>
            </a:avLst>
          </a:prstGeom>
          <a:solidFill>
            <a:srgbClr val="FCE2CF"/>
          </a:solidFill>
          <a:ln/>
        </p:spPr>
      </p:sp>
      <p:sp>
        <p:nvSpPr>
          <p:cNvPr id="5" name="Text 3"/>
          <p:cNvSpPr/>
          <p:nvPr/>
        </p:nvSpPr>
        <p:spPr>
          <a:xfrm>
            <a:off x="1100286" y="374972"/>
            <a:ext cx="802928" cy="137145"/>
          </a:xfrm>
          <a:prstGeom prst="rect">
            <a:avLst/>
          </a:prstGeom>
          <a:noFill/>
          <a:ln/>
        </p:spPr>
        <p:txBody>
          <a:bodyPr wrap="none" lIns="0" tIns="0" rIns="0" bIns="0" rtlCol="0" anchor="t"/>
          <a:lstStyle/>
          <a:p>
            <a:pPr algn="l" indent="0" marL="0">
              <a:lnSpc>
                <a:spcPct val="127000"/>
              </a:lnSpc>
              <a:buNone/>
            </a:pPr>
            <a:r>
              <a:rPr lang="en-US" sz="700" dirty="0">
                <a:solidFill>
                  <a:srgbClr val="2B2E3C"/>
                </a:solidFill>
                <a:latin typeface="Open Sans" pitchFamily="34" charset="0"/>
                <a:ea typeface="Open Sans" pitchFamily="34" charset="-122"/>
                <a:cs typeface="Open Sans" pitchFamily="34" charset="-120"/>
              </a:rPr>
              <a:t>STAGE 4</a:t>
            </a:r>
            <a:endParaRPr lang="en-US" sz="700" dirty="0"/>
          </a:p>
        </p:txBody>
      </p:sp>
      <p:sp>
        <p:nvSpPr>
          <p:cNvPr id="6" name="Text 4"/>
          <p:cNvSpPr/>
          <p:nvPr/>
        </p:nvSpPr>
        <p:spPr>
          <a:xfrm>
            <a:off x="496119" y="586532"/>
            <a:ext cx="8151763" cy="351309"/>
          </a:xfrm>
          <a:prstGeom prst="rect">
            <a:avLst/>
          </a:prstGeom>
          <a:noFill/>
          <a:ln/>
        </p:spPr>
        <p:txBody>
          <a:bodyPr wrap="none" lIns="0" tIns="0" rIns="0" bIns="0" rtlCol="0" anchor="t"/>
          <a:lstStyle/>
          <a:p>
            <a:pPr algn="l" indent="0" marL="0">
              <a:lnSpc>
                <a:spcPct val="104000"/>
              </a:lnSpc>
              <a:buNone/>
            </a:pPr>
            <a:r>
              <a:rPr lang="en-US" sz="2200" dirty="0">
                <a:solidFill>
                  <a:srgbClr val="2C3F42"/>
                </a:solidFill>
                <a:latin typeface="Bitter Medium" pitchFamily="34" charset="0"/>
                <a:ea typeface="Bitter Medium" pitchFamily="34" charset="-122"/>
                <a:cs typeface="Bitter Medium" pitchFamily="34" charset="-120"/>
              </a:rPr>
              <a:t>Object Segmentation &amp; Interactive Selection</a:t>
            </a:r>
            <a:endParaRPr lang="en-US" sz="2200" dirty="0"/>
          </a:p>
        </p:txBody>
      </p:sp>
      <p:sp>
        <p:nvSpPr>
          <p:cNvPr id="7" name="Text 5"/>
          <p:cNvSpPr/>
          <p:nvPr/>
        </p:nvSpPr>
        <p:spPr>
          <a:xfrm>
            <a:off x="496119" y="1192485"/>
            <a:ext cx="3938736" cy="175617"/>
          </a:xfrm>
          <a:prstGeom prst="rect">
            <a:avLst/>
          </a:prstGeom>
          <a:noFill/>
          <a:ln/>
        </p:spPr>
        <p:txBody>
          <a:bodyPr wrap="none" lIns="0" tIns="0" rIns="0" bIns="0" rtlCol="0" anchor="t"/>
          <a:lstStyle/>
          <a:p>
            <a:pPr algn="l" indent="0" marL="0">
              <a:lnSpc>
                <a:spcPct val="104000"/>
              </a:lnSpc>
              <a:buNone/>
            </a:pPr>
            <a:r>
              <a:rPr lang="en-US" sz="1100" dirty="0">
                <a:solidFill>
                  <a:srgbClr val="2C3F42"/>
                </a:solidFill>
                <a:latin typeface="Bitter Medium" pitchFamily="34" charset="0"/>
                <a:ea typeface="Bitter Medium" pitchFamily="34" charset="-122"/>
                <a:cs typeface="Bitter Medium" pitchFamily="34" charset="-120"/>
              </a:rPr>
              <a:t>Stage 3 — Automatic Object Segmentation</a:t>
            </a:r>
            <a:endParaRPr lang="en-US" sz="1100" dirty="0"/>
          </a:p>
        </p:txBody>
      </p:sp>
      <p:sp>
        <p:nvSpPr>
          <p:cNvPr id="8" name="Text 6"/>
          <p:cNvSpPr/>
          <p:nvPr/>
        </p:nvSpPr>
        <p:spPr>
          <a:xfrm>
            <a:off x="496119" y="1469975"/>
            <a:ext cx="3938736" cy="1028700"/>
          </a:xfrm>
          <a:prstGeom prst="rect">
            <a:avLst/>
          </a:prstGeom>
          <a:noFill/>
          <a:ln/>
        </p:spPr>
        <p:txBody>
          <a:bodyPr wrap="square" lIns="0" tIns="0" rIns="0" bIns="0" rtlCol="0" anchor="t">
            <a:normAutofit/>
          </a:bodyPr>
          <a:lstStyle/>
          <a:p>
            <a:pPr algn="l" indent="0" marL="0">
              <a:lnSpc>
                <a:spcPct val="127000"/>
              </a:lnSpc>
              <a:buNone/>
            </a:pPr>
            <a:r>
              <a:rPr lang="en-US" sz="850" dirty="0">
                <a:solidFill>
                  <a:srgbClr val="2B2E3C"/>
                </a:solidFill>
                <a:latin typeface="Open Sans" pitchFamily="34" charset="0"/>
                <a:ea typeface="Open Sans" pitchFamily="34" charset="-122"/>
                <a:cs typeface="Open Sans" pitchFamily="34" charset="-120"/>
              </a:rPr>
              <a:t>After preprocessing, the scene is still a single unified point cloud. Stage 3 applies </a:t>
            </a:r>
            <a:pPr algn="l" indent="0" marL="0">
              <a:lnSpc>
                <a:spcPct val="127000"/>
              </a:lnSpc>
              <a:buNone/>
            </a:pPr>
            <a:r>
              <a:rPr lang="en-US" sz="850" b="1" dirty="0">
                <a:solidFill>
                  <a:srgbClr val="2B2E3C"/>
                </a:solidFill>
                <a:latin typeface="Open Sans Bold" pitchFamily="34" charset="0"/>
                <a:ea typeface="Open Sans Bold" pitchFamily="34" charset="-122"/>
                <a:cs typeface="Open Sans Bold" pitchFamily="34" charset="-120"/>
              </a:rPr>
              <a:t>DBSCAN (Density-Based Spatial Clustering of Applications with Noise)</a:t>
            </a:r>
            <a:pPr algn="l" indent="0" marL="0">
              <a:lnSpc>
                <a:spcPct val="127000"/>
              </a:lnSpc>
              <a:buNone/>
            </a:pPr>
            <a:r>
              <a:rPr lang="en-US" sz="850" dirty="0">
                <a:solidFill>
                  <a:srgbClr val="2B2E3C"/>
                </a:solidFill>
                <a:latin typeface="Open Sans" pitchFamily="34" charset="0"/>
                <a:ea typeface="Open Sans" pitchFamily="34" charset="-122"/>
                <a:cs typeface="Open Sans" pitchFamily="34" charset="-120"/>
              </a:rPr>
              <a:t> to automatically partition the scene into independent object clusters. DBSCAN is particularly well-suited for 3D scenes because it does not require a predefined number of clusters and can identify arbitrarily shaped groupings while marking outliers as noise.</a:t>
            </a:r>
            <a:endParaRPr lang="en-US" sz="850" dirty="0"/>
          </a:p>
        </p:txBody>
      </p:sp>
      <p:sp>
        <p:nvSpPr>
          <p:cNvPr id="9" name="Text 7"/>
          <p:cNvSpPr/>
          <p:nvPr/>
        </p:nvSpPr>
        <p:spPr>
          <a:xfrm>
            <a:off x="496119" y="2590354"/>
            <a:ext cx="3938736" cy="999827"/>
          </a:xfrm>
          <a:prstGeom prst="rect">
            <a:avLst/>
          </a:prstGeom>
          <a:noFill/>
          <a:ln/>
        </p:spPr>
        <p:txBody>
          <a:bodyPr wrap="square" lIns="0" tIns="0" rIns="0" bIns="0" rtlCol="0" anchor="t">
            <a:normAutofit/>
          </a:bodyPr>
          <a:lstStyle/>
          <a:p>
            <a:pPr algn="l" marL="172720" indent="-172720">
              <a:lnSpc>
                <a:spcPct val="127000"/>
              </a:lnSpc>
              <a:buSzPct val="100000"/>
              <a:buChar char="•"/>
            </a:pPr>
            <a:r>
              <a:rPr lang="en-US" sz="850" dirty="0">
                <a:solidFill>
                  <a:srgbClr val="2B2E3C"/>
                </a:solidFill>
                <a:latin typeface="Open Sans" pitchFamily="34" charset="0"/>
                <a:ea typeface="Open Sans" pitchFamily="34" charset="-122"/>
                <a:cs typeface="Open Sans" pitchFamily="34" charset="-120"/>
              </a:rPr>
              <a:t>Cluster IDs are assigned to every point in the scene</a:t>
            </a:r>
            <a:endParaRPr lang="en-US" sz="850" dirty="0"/>
          </a:p>
          <a:p>
            <a:pPr algn="l" marL="172720" indent="-172720">
              <a:lnSpc>
                <a:spcPct val="127000"/>
              </a:lnSpc>
              <a:buSzPct val="100000"/>
              <a:buChar char="•"/>
            </a:pPr>
            <a:r>
              <a:rPr lang="en-US" sz="850" dirty="0">
                <a:solidFill>
                  <a:srgbClr val="2B2E3C"/>
                </a:solidFill>
                <a:latin typeface="Open Sans" pitchFamily="34" charset="0"/>
                <a:ea typeface="Open Sans" pitchFamily="34" charset="-122"/>
                <a:cs typeface="Open Sans" pitchFamily="34" charset="-120"/>
              </a:rPr>
              <a:t>Cluster masks are generated for efficient indexing</a:t>
            </a:r>
            <a:endParaRPr lang="en-US" sz="850" dirty="0"/>
          </a:p>
          <a:p>
            <a:pPr algn="l" marL="172720" indent="-172720">
              <a:lnSpc>
                <a:spcPct val="127000"/>
              </a:lnSpc>
              <a:buSzPct val="100000"/>
              <a:buChar char="•"/>
            </a:pPr>
            <a:r>
              <a:rPr lang="en-US" sz="850" dirty="0">
                <a:solidFill>
                  <a:srgbClr val="2B2E3C"/>
                </a:solidFill>
                <a:latin typeface="Open Sans" pitchFamily="34" charset="0"/>
                <a:ea typeface="Open Sans" pitchFamily="34" charset="-122"/>
                <a:cs typeface="Open Sans" pitchFamily="34" charset="-120"/>
              </a:rPr>
              <a:t>Each cluster is assigned a unique color for visual distinction</a:t>
            </a:r>
            <a:endParaRPr lang="en-US" sz="850" dirty="0"/>
          </a:p>
          <a:p>
            <a:pPr algn="l" marL="172720" indent="-172720">
              <a:lnSpc>
                <a:spcPct val="127000"/>
              </a:lnSpc>
              <a:buSzPct val="100000"/>
              <a:buChar char="•"/>
            </a:pPr>
            <a:r>
              <a:rPr lang="en-US" sz="850" dirty="0">
                <a:solidFill>
                  <a:srgbClr val="2B2E3C"/>
                </a:solidFill>
                <a:latin typeface="Open Sans" pitchFamily="34" charset="0"/>
                <a:ea typeface="Open Sans" pitchFamily="34" charset="-122"/>
                <a:cs typeface="Open Sans" pitchFamily="34" charset="-120"/>
              </a:rPr>
              <a:t>Cluster statistics (point count, bounding box, centroid) are computed</a:t>
            </a:r>
            <a:endParaRPr lang="en-US" sz="850" dirty="0"/>
          </a:p>
          <a:p>
            <a:pPr algn="l" marL="172720" indent="-172720">
              <a:lnSpc>
                <a:spcPct val="127000"/>
              </a:lnSpc>
              <a:buSzPct val="100000"/>
              <a:buChar char="•"/>
            </a:pPr>
            <a:r>
              <a:rPr lang="en-US" sz="850" dirty="0">
                <a:solidFill>
                  <a:srgbClr val="2B2E3C"/>
                </a:solidFill>
                <a:latin typeface="Open Sans" pitchFamily="34" charset="0"/>
                <a:ea typeface="Open Sans" pitchFamily="34" charset="-122"/>
                <a:cs typeface="Open Sans" pitchFamily="34" charset="-120"/>
              </a:rPr>
              <a:t>Automatic parameter estimation adapts to different scene densities</a:t>
            </a:r>
            <a:endParaRPr lang="en-US" sz="850" dirty="0"/>
          </a:p>
        </p:txBody>
      </p:sp>
      <p:sp>
        <p:nvSpPr>
          <p:cNvPr id="10" name="Text 8"/>
          <p:cNvSpPr/>
          <p:nvPr/>
        </p:nvSpPr>
        <p:spPr>
          <a:xfrm>
            <a:off x="496119" y="3681859"/>
            <a:ext cx="3938736" cy="342900"/>
          </a:xfrm>
          <a:prstGeom prst="rect">
            <a:avLst/>
          </a:prstGeom>
          <a:noFill/>
          <a:ln/>
        </p:spPr>
        <p:txBody>
          <a:bodyPr wrap="square" lIns="0" tIns="0" rIns="0" bIns="0" rtlCol="0" anchor="t">
            <a:normAutofit/>
          </a:bodyPr>
          <a:lstStyle/>
          <a:p>
            <a:pPr algn="l" indent="0" marL="0">
              <a:lnSpc>
                <a:spcPct val="127000"/>
              </a:lnSpc>
              <a:buNone/>
            </a:pPr>
            <a:r>
              <a:rPr lang="en-US" sz="850" dirty="0">
                <a:solidFill>
                  <a:srgbClr val="2B2E3C"/>
                </a:solidFill>
                <a:latin typeface="Open Sans" pitchFamily="34" charset="0"/>
                <a:ea typeface="Open Sans" pitchFamily="34" charset="-122"/>
                <a:cs typeface="Open Sans" pitchFamily="34" charset="-120"/>
              </a:rPr>
              <a:t>The output is a fully segmented scene where each independent object is identified and labeled, forming the foundation for interactive selection.</a:t>
            </a:r>
            <a:endParaRPr lang="en-US" sz="850" dirty="0"/>
          </a:p>
        </p:txBody>
      </p:sp>
      <p:sp>
        <p:nvSpPr>
          <p:cNvPr id="11" name="Text 9"/>
          <p:cNvSpPr/>
          <p:nvPr/>
        </p:nvSpPr>
        <p:spPr>
          <a:xfrm>
            <a:off x="4713908" y="1192485"/>
            <a:ext cx="3938736" cy="175617"/>
          </a:xfrm>
          <a:prstGeom prst="rect">
            <a:avLst/>
          </a:prstGeom>
          <a:noFill/>
          <a:ln/>
        </p:spPr>
        <p:txBody>
          <a:bodyPr wrap="none" lIns="0" tIns="0" rIns="0" bIns="0" rtlCol="0" anchor="t"/>
          <a:lstStyle/>
          <a:p>
            <a:pPr algn="l" indent="0" marL="0">
              <a:lnSpc>
                <a:spcPct val="104000"/>
              </a:lnSpc>
              <a:buNone/>
            </a:pPr>
            <a:r>
              <a:rPr lang="en-US" sz="1100" dirty="0">
                <a:solidFill>
                  <a:srgbClr val="2C3F42"/>
                </a:solidFill>
                <a:latin typeface="Bitter Medium" pitchFamily="34" charset="0"/>
                <a:ea typeface="Bitter Medium" pitchFamily="34" charset="-122"/>
                <a:cs typeface="Bitter Medium" pitchFamily="34" charset="-120"/>
              </a:rPr>
              <a:t>Stage 4 — Interactive Object Selection</a:t>
            </a:r>
            <a:endParaRPr lang="en-US" sz="1100" dirty="0"/>
          </a:p>
        </p:txBody>
      </p:sp>
      <p:sp>
        <p:nvSpPr>
          <p:cNvPr id="12" name="Text 10"/>
          <p:cNvSpPr/>
          <p:nvPr/>
        </p:nvSpPr>
        <p:spPr>
          <a:xfrm>
            <a:off x="4713908" y="1469975"/>
            <a:ext cx="3938736" cy="685800"/>
          </a:xfrm>
          <a:prstGeom prst="rect">
            <a:avLst/>
          </a:prstGeom>
          <a:noFill/>
          <a:ln/>
        </p:spPr>
        <p:txBody>
          <a:bodyPr wrap="square" lIns="0" tIns="0" rIns="0" bIns="0" rtlCol="0" anchor="t">
            <a:normAutofit/>
          </a:bodyPr>
          <a:lstStyle/>
          <a:p>
            <a:pPr algn="l" indent="0" marL="0">
              <a:lnSpc>
                <a:spcPct val="127000"/>
              </a:lnSpc>
              <a:buNone/>
            </a:pPr>
            <a:r>
              <a:rPr lang="en-US" sz="850" dirty="0">
                <a:solidFill>
                  <a:srgbClr val="2B2E3C"/>
                </a:solidFill>
                <a:latin typeface="Open Sans" pitchFamily="34" charset="0"/>
                <a:ea typeface="Open Sans" pitchFamily="34" charset="-122"/>
                <a:cs typeface="Open Sans" pitchFamily="34" charset="-120"/>
              </a:rPr>
              <a:t>Automatic clustering alone cannot determine which object the user intends to edit — large indoor scenes may contain hundreds of clusters representing furniture, decor, fixtures, and structural elements. Stage 4 provides an interactive interface for precise target selection.</a:t>
            </a:r>
            <a:endParaRPr lang="en-US" sz="850" dirty="0"/>
          </a:p>
        </p:txBody>
      </p:sp>
      <p:sp>
        <p:nvSpPr>
          <p:cNvPr id="13" name="Shape 11"/>
          <p:cNvSpPr/>
          <p:nvPr/>
        </p:nvSpPr>
        <p:spPr>
          <a:xfrm>
            <a:off x="4713908" y="2270373"/>
            <a:ext cx="1918395" cy="854646"/>
          </a:xfrm>
          <a:prstGeom prst="roundRect">
            <a:avLst>
              <a:gd name="adj" fmla="val 5525"/>
            </a:avLst>
          </a:prstGeom>
          <a:solidFill>
            <a:srgbClr val="FCE2CF"/>
          </a:solidFill>
          <a:ln w="4763">
            <a:solidFill>
              <a:srgbClr val="E2C8B5"/>
            </a:solidFill>
            <a:prstDash val="solid"/>
          </a:ln>
        </p:spPr>
      </p:sp>
      <p:sp>
        <p:nvSpPr>
          <p:cNvPr id="14" name="Text 12"/>
          <p:cNvSpPr/>
          <p:nvPr/>
        </p:nvSpPr>
        <p:spPr>
          <a:xfrm>
            <a:off x="4831035" y="2387501"/>
            <a:ext cx="1684139" cy="175617"/>
          </a:xfrm>
          <a:prstGeom prst="rect">
            <a:avLst/>
          </a:prstGeom>
          <a:noFill/>
          <a:ln/>
        </p:spPr>
        <p:txBody>
          <a:bodyPr wrap="none" lIns="0" tIns="0" rIns="0" bIns="0" rtlCol="0" anchor="t"/>
          <a:lstStyle/>
          <a:p>
            <a:pPr algn="l" indent="0" marL="0">
              <a:lnSpc>
                <a:spcPct val="104000"/>
              </a:lnSpc>
              <a:buNone/>
            </a:pPr>
            <a:r>
              <a:rPr lang="en-US" sz="1100" dirty="0">
                <a:solidFill>
                  <a:srgbClr val="2B2E3C"/>
                </a:solidFill>
                <a:latin typeface="Bitter Medium" pitchFamily="34" charset="0"/>
                <a:ea typeface="Bitter Medium" pitchFamily="34" charset="-122"/>
                <a:cs typeface="Bitter Medium" pitchFamily="34" charset="-120"/>
              </a:rPr>
              <a:t>Single Selection</a:t>
            </a:r>
            <a:endParaRPr lang="en-US" sz="1100" dirty="0"/>
          </a:p>
        </p:txBody>
      </p:sp>
      <p:sp>
        <p:nvSpPr>
          <p:cNvPr id="15" name="Text 13"/>
          <p:cNvSpPr/>
          <p:nvPr/>
        </p:nvSpPr>
        <p:spPr>
          <a:xfrm>
            <a:off x="4831035" y="2664991"/>
            <a:ext cx="1684139" cy="342900"/>
          </a:xfrm>
          <a:prstGeom prst="rect">
            <a:avLst/>
          </a:prstGeom>
          <a:noFill/>
          <a:ln/>
        </p:spPr>
        <p:txBody>
          <a:bodyPr wrap="square" lIns="0" tIns="0" rIns="0" bIns="0" rtlCol="0" anchor="t">
            <a:normAutofit/>
          </a:bodyPr>
          <a:lstStyle/>
          <a:p>
            <a:pPr algn="l" indent="0" marL="0">
              <a:lnSpc>
                <a:spcPct val="127000"/>
              </a:lnSpc>
              <a:buNone/>
            </a:pPr>
            <a:r>
              <a:rPr lang="en-US" sz="850" dirty="0">
                <a:solidFill>
                  <a:srgbClr val="2B2E3C"/>
                </a:solidFill>
                <a:latin typeface="Open Sans" pitchFamily="34" charset="0"/>
                <a:ea typeface="Open Sans" pitchFamily="34" charset="-122"/>
                <a:cs typeface="Open Sans" pitchFamily="34" charset="-120"/>
              </a:rPr>
              <a:t>Pick one cluster for isolated object editing</a:t>
            </a:r>
            <a:endParaRPr lang="en-US" sz="850" dirty="0"/>
          </a:p>
        </p:txBody>
      </p:sp>
      <p:sp>
        <p:nvSpPr>
          <p:cNvPr id="16" name="Shape 14"/>
          <p:cNvSpPr/>
          <p:nvPr/>
        </p:nvSpPr>
        <p:spPr>
          <a:xfrm>
            <a:off x="6734175" y="2270373"/>
            <a:ext cx="1918469" cy="854646"/>
          </a:xfrm>
          <a:prstGeom prst="roundRect">
            <a:avLst>
              <a:gd name="adj" fmla="val 5525"/>
            </a:avLst>
          </a:prstGeom>
          <a:solidFill>
            <a:srgbClr val="FCE2CF"/>
          </a:solidFill>
          <a:ln w="4763">
            <a:solidFill>
              <a:srgbClr val="E2C8B5"/>
            </a:solidFill>
            <a:prstDash val="solid"/>
          </a:ln>
        </p:spPr>
      </p:sp>
      <p:sp>
        <p:nvSpPr>
          <p:cNvPr id="17" name="Text 15"/>
          <p:cNvSpPr/>
          <p:nvPr/>
        </p:nvSpPr>
        <p:spPr>
          <a:xfrm>
            <a:off x="6851303" y="2387501"/>
            <a:ext cx="1684213" cy="175617"/>
          </a:xfrm>
          <a:prstGeom prst="rect">
            <a:avLst/>
          </a:prstGeom>
          <a:noFill/>
          <a:ln/>
        </p:spPr>
        <p:txBody>
          <a:bodyPr wrap="none" lIns="0" tIns="0" rIns="0" bIns="0" rtlCol="0" anchor="t"/>
          <a:lstStyle/>
          <a:p>
            <a:pPr algn="l" indent="0" marL="0">
              <a:lnSpc>
                <a:spcPct val="104000"/>
              </a:lnSpc>
              <a:buNone/>
            </a:pPr>
            <a:r>
              <a:rPr lang="en-US" sz="1100" dirty="0">
                <a:solidFill>
                  <a:srgbClr val="2B2E3C"/>
                </a:solidFill>
                <a:latin typeface="Bitter Medium" pitchFamily="34" charset="0"/>
                <a:ea typeface="Bitter Medium" pitchFamily="34" charset="-122"/>
                <a:cs typeface="Bitter Medium" pitchFamily="34" charset="-120"/>
              </a:rPr>
              <a:t>Multi Selection</a:t>
            </a:r>
            <a:endParaRPr lang="en-US" sz="1100" dirty="0"/>
          </a:p>
        </p:txBody>
      </p:sp>
      <p:sp>
        <p:nvSpPr>
          <p:cNvPr id="18" name="Text 16"/>
          <p:cNvSpPr/>
          <p:nvPr/>
        </p:nvSpPr>
        <p:spPr>
          <a:xfrm>
            <a:off x="6851303" y="2664991"/>
            <a:ext cx="1684213" cy="342900"/>
          </a:xfrm>
          <a:prstGeom prst="rect">
            <a:avLst/>
          </a:prstGeom>
          <a:noFill/>
          <a:ln/>
        </p:spPr>
        <p:txBody>
          <a:bodyPr wrap="square" lIns="0" tIns="0" rIns="0" bIns="0" rtlCol="0" anchor="t">
            <a:normAutofit/>
          </a:bodyPr>
          <a:lstStyle/>
          <a:p>
            <a:pPr algn="l" indent="0" marL="0">
              <a:lnSpc>
                <a:spcPct val="127000"/>
              </a:lnSpc>
              <a:buNone/>
            </a:pPr>
            <a:r>
              <a:rPr lang="en-US" sz="850" dirty="0">
                <a:solidFill>
                  <a:srgbClr val="2B2E3C"/>
                </a:solidFill>
                <a:latin typeface="Open Sans" pitchFamily="34" charset="0"/>
                <a:ea typeface="Open Sans" pitchFamily="34" charset="-122"/>
                <a:cs typeface="Open Sans" pitchFamily="34" charset="-120"/>
              </a:rPr>
              <a:t>Select multiple clusters for grouped operations</a:t>
            </a:r>
            <a:endParaRPr lang="en-US" sz="850" dirty="0"/>
          </a:p>
        </p:txBody>
      </p:sp>
      <p:sp>
        <p:nvSpPr>
          <p:cNvPr id="19" name="Shape 17"/>
          <p:cNvSpPr/>
          <p:nvPr/>
        </p:nvSpPr>
        <p:spPr>
          <a:xfrm>
            <a:off x="4713908" y="3226891"/>
            <a:ext cx="3938736" cy="683196"/>
          </a:xfrm>
          <a:prstGeom prst="roundRect">
            <a:avLst>
              <a:gd name="adj" fmla="val 6911"/>
            </a:avLst>
          </a:prstGeom>
          <a:solidFill>
            <a:srgbClr val="FCE2CF"/>
          </a:solidFill>
          <a:ln w="4763">
            <a:solidFill>
              <a:srgbClr val="E2C8B5"/>
            </a:solidFill>
            <a:prstDash val="solid"/>
          </a:ln>
        </p:spPr>
      </p:sp>
      <p:sp>
        <p:nvSpPr>
          <p:cNvPr id="20" name="Text 18"/>
          <p:cNvSpPr/>
          <p:nvPr/>
        </p:nvSpPr>
        <p:spPr>
          <a:xfrm>
            <a:off x="4831035" y="3344019"/>
            <a:ext cx="3704481" cy="175617"/>
          </a:xfrm>
          <a:prstGeom prst="rect">
            <a:avLst/>
          </a:prstGeom>
          <a:noFill/>
          <a:ln/>
        </p:spPr>
        <p:txBody>
          <a:bodyPr wrap="none" lIns="0" tIns="0" rIns="0" bIns="0" rtlCol="0" anchor="t"/>
          <a:lstStyle/>
          <a:p>
            <a:pPr algn="l" indent="0" marL="0">
              <a:lnSpc>
                <a:spcPct val="104000"/>
              </a:lnSpc>
              <a:buNone/>
            </a:pPr>
            <a:r>
              <a:rPr lang="en-US" sz="1100" dirty="0">
                <a:solidFill>
                  <a:srgbClr val="2B2E3C"/>
                </a:solidFill>
                <a:latin typeface="Bitter Medium" pitchFamily="34" charset="0"/>
                <a:ea typeface="Bitter Medium" pitchFamily="34" charset="-122"/>
                <a:cs typeface="Bitter Medium" pitchFamily="34" charset="-120"/>
              </a:rPr>
              <a:t>Manual Refinement</a:t>
            </a:r>
            <a:endParaRPr lang="en-US" sz="1100" dirty="0"/>
          </a:p>
        </p:txBody>
      </p:sp>
      <p:sp>
        <p:nvSpPr>
          <p:cNvPr id="21" name="Text 19"/>
          <p:cNvSpPr/>
          <p:nvPr/>
        </p:nvSpPr>
        <p:spPr>
          <a:xfrm>
            <a:off x="4831035" y="3621509"/>
            <a:ext cx="3704481" cy="171450"/>
          </a:xfrm>
          <a:prstGeom prst="rect">
            <a:avLst/>
          </a:prstGeom>
          <a:noFill/>
          <a:ln/>
        </p:spPr>
        <p:txBody>
          <a:bodyPr wrap="none" lIns="0" tIns="0" rIns="0" bIns="0" rtlCol="0" anchor="t"/>
          <a:lstStyle/>
          <a:p>
            <a:pPr algn="l" indent="0" marL="0">
              <a:lnSpc>
                <a:spcPct val="127000"/>
              </a:lnSpc>
              <a:buNone/>
            </a:pPr>
            <a:r>
              <a:rPr lang="en-US" sz="850" dirty="0">
                <a:solidFill>
                  <a:srgbClr val="2B2E3C"/>
                </a:solidFill>
                <a:latin typeface="Open Sans" pitchFamily="34" charset="0"/>
                <a:ea typeface="Open Sans" pitchFamily="34" charset="-122"/>
                <a:cs typeface="Open Sans" pitchFamily="34" charset="-120"/>
              </a:rPr>
              <a:t>Add or remove points from the selection mask</a:t>
            </a:r>
            <a:endParaRPr lang="en-US" sz="850" dirty="0"/>
          </a:p>
        </p:txBody>
      </p:sp>
      <p:sp>
        <p:nvSpPr>
          <p:cNvPr id="22" name="Text 20"/>
          <p:cNvSpPr/>
          <p:nvPr/>
        </p:nvSpPr>
        <p:spPr>
          <a:xfrm>
            <a:off x="4713908" y="4024685"/>
            <a:ext cx="3938736" cy="685800"/>
          </a:xfrm>
          <a:prstGeom prst="rect">
            <a:avLst/>
          </a:prstGeom>
          <a:noFill/>
          <a:ln/>
        </p:spPr>
        <p:txBody>
          <a:bodyPr wrap="square" lIns="0" tIns="0" rIns="0" bIns="0" rtlCol="0" anchor="t">
            <a:normAutofit/>
          </a:bodyPr>
          <a:lstStyle/>
          <a:p>
            <a:pPr algn="l" indent="0" marL="0">
              <a:lnSpc>
                <a:spcPct val="127000"/>
              </a:lnSpc>
              <a:buNone/>
            </a:pPr>
            <a:r>
              <a:rPr lang="en-US" sz="850" dirty="0">
                <a:solidFill>
                  <a:srgbClr val="2B2E3C"/>
                </a:solidFill>
                <a:latin typeface="Open Sans" pitchFamily="34" charset="0"/>
                <a:ea typeface="Open Sans" pitchFamily="34" charset="-122"/>
                <a:cs typeface="Open Sans" pitchFamily="34" charset="-120"/>
              </a:rPr>
              <a:t>A binary object mask is generated from the selection, and the indices of all selected clusters are stored for use in the decomposition stage. This enables precise, user-directed editing while retaining the efficiency of automatic segmentation.</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96119" y="346174"/>
            <a:ext cx="347811" cy="135062"/>
          </a:xfrm>
          <a:prstGeom prst="roundRect">
            <a:avLst>
              <a:gd name="adj" fmla="val 20252"/>
            </a:avLst>
          </a:prstGeom>
          <a:solidFill>
            <a:srgbClr val="FCE2CF"/>
          </a:solidFill>
          <a:ln/>
        </p:spPr>
      </p:sp>
      <p:sp>
        <p:nvSpPr>
          <p:cNvPr id="3" name="Text 1"/>
          <p:cNvSpPr/>
          <p:nvPr/>
        </p:nvSpPr>
        <p:spPr>
          <a:xfrm>
            <a:off x="544934" y="370582"/>
            <a:ext cx="707380" cy="86246"/>
          </a:xfrm>
          <a:prstGeom prst="rect">
            <a:avLst/>
          </a:prstGeom>
          <a:noFill/>
          <a:ln/>
        </p:spPr>
        <p:txBody>
          <a:bodyPr wrap="none" lIns="0" tIns="0" rIns="0" bIns="0" rtlCol="0" anchor="t"/>
          <a:lstStyle/>
          <a:p>
            <a:pPr algn="l" indent="0" marL="0">
              <a:lnSpc>
                <a:spcPct val="110000"/>
              </a:lnSpc>
              <a:buNone/>
            </a:pPr>
            <a:r>
              <a:rPr lang="en-US" sz="500" dirty="0">
                <a:solidFill>
                  <a:srgbClr val="2B2E3C"/>
                </a:solidFill>
                <a:latin typeface="Open Sans" pitchFamily="34" charset="0"/>
                <a:ea typeface="Open Sans" pitchFamily="34" charset="-122"/>
                <a:cs typeface="Open Sans" pitchFamily="34" charset="-120"/>
              </a:rPr>
              <a:t>STAGE 5</a:t>
            </a:r>
            <a:endParaRPr lang="en-US" sz="500" dirty="0"/>
          </a:p>
        </p:txBody>
      </p:sp>
      <p:sp>
        <p:nvSpPr>
          <p:cNvPr id="4" name="Text 2"/>
          <p:cNvSpPr/>
          <p:nvPr/>
        </p:nvSpPr>
        <p:spPr>
          <a:xfrm>
            <a:off x="496119" y="502593"/>
            <a:ext cx="8151763" cy="254347"/>
          </a:xfrm>
          <a:prstGeom prst="rect">
            <a:avLst/>
          </a:prstGeom>
          <a:noFill/>
          <a:ln/>
        </p:spPr>
        <p:txBody>
          <a:bodyPr wrap="none" lIns="0" tIns="0" rIns="0" bIns="0" rtlCol="0" anchor="t"/>
          <a:lstStyle/>
          <a:p>
            <a:pPr algn="l" indent="0" marL="0">
              <a:lnSpc>
                <a:spcPct val="104000"/>
              </a:lnSpc>
              <a:buNone/>
            </a:pPr>
            <a:r>
              <a:rPr lang="en-US" sz="1600" dirty="0">
                <a:solidFill>
                  <a:srgbClr val="2C3F42"/>
                </a:solidFill>
                <a:latin typeface="Bitter Medium" pitchFamily="34" charset="0"/>
                <a:ea typeface="Bitter Medium" pitchFamily="34" charset="-122"/>
                <a:cs typeface="Bitter Medium" pitchFamily="34" charset="-120"/>
              </a:rPr>
              <a:t>Scene Decomposition</a:t>
            </a:r>
            <a:endParaRPr lang="en-US" sz="1600" dirty="0"/>
          </a:p>
        </p:txBody>
      </p:sp>
      <p:sp>
        <p:nvSpPr>
          <p:cNvPr id="5" name="Text 3"/>
          <p:cNvSpPr/>
          <p:nvPr/>
        </p:nvSpPr>
        <p:spPr>
          <a:xfrm>
            <a:off x="496119" y="837009"/>
            <a:ext cx="8151763" cy="215652"/>
          </a:xfrm>
          <a:prstGeom prst="rect">
            <a:avLst/>
          </a:prstGeom>
          <a:noFill/>
          <a:ln/>
        </p:spPr>
        <p:txBody>
          <a:bodyPr wrap="square" lIns="0" tIns="0" rIns="0" bIns="0" rtlCol="0" anchor="t">
            <a:normAutofit/>
          </a:bodyPr>
          <a:lstStyle/>
          <a:p>
            <a:pPr algn="l" indent="0" marL="0">
              <a:lnSpc>
                <a:spcPct val="110000"/>
              </a:lnSpc>
              <a:buNone/>
            </a:pPr>
            <a:r>
              <a:rPr lang="en-US" sz="600" dirty="0">
                <a:solidFill>
                  <a:srgbClr val="2B2E3C"/>
                </a:solidFill>
                <a:latin typeface="Open Sans" pitchFamily="34" charset="0"/>
                <a:ea typeface="Open Sans" pitchFamily="34" charset="-122"/>
                <a:cs typeface="Open Sans" pitchFamily="34" charset="-120"/>
              </a:rPr>
              <a:t>With the target object(s) selected, Stage 5 performs a clean separation of the scene into two distinct components: the </a:t>
            </a:r>
            <a:pPr algn="l" indent="0" marL="0">
              <a:lnSpc>
                <a:spcPct val="110000"/>
              </a:lnSpc>
              <a:buNone/>
            </a:pPr>
            <a:r>
              <a:rPr lang="en-US" sz="600" b="1" dirty="0">
                <a:solidFill>
                  <a:srgbClr val="2B2E3C"/>
                </a:solidFill>
                <a:latin typeface="Open Sans Bold" pitchFamily="34" charset="0"/>
                <a:ea typeface="Open Sans Bold" pitchFamily="34" charset="-122"/>
                <a:cs typeface="Open Sans Bold" pitchFamily="34" charset="-120"/>
              </a:rPr>
              <a:t>room point cloud</a:t>
            </a:r>
            <a:pPr algn="l" indent="0" marL="0">
              <a:lnSpc>
                <a:spcPct val="110000"/>
              </a:lnSpc>
              <a:buNone/>
            </a:pPr>
            <a:r>
              <a:rPr lang="en-US" sz="600" dirty="0">
                <a:solidFill>
                  <a:srgbClr val="2B2E3C"/>
                </a:solidFill>
                <a:latin typeface="Open Sans" pitchFamily="34" charset="0"/>
                <a:ea typeface="Open Sans" pitchFamily="34" charset="-122"/>
                <a:cs typeface="Open Sans" pitchFamily="34" charset="-120"/>
              </a:rPr>
              <a:t> (the static environment) and the </a:t>
            </a:r>
            <a:pPr algn="l" indent="0" marL="0">
              <a:lnSpc>
                <a:spcPct val="110000"/>
              </a:lnSpc>
              <a:buNone/>
            </a:pPr>
            <a:r>
              <a:rPr lang="en-US" sz="600" b="1" dirty="0">
                <a:solidFill>
                  <a:srgbClr val="2B2E3C"/>
                </a:solidFill>
                <a:latin typeface="Open Sans Bold" pitchFamily="34" charset="0"/>
                <a:ea typeface="Open Sans Bold" pitchFamily="34" charset="-122"/>
                <a:cs typeface="Open Sans Bold" pitchFamily="34" charset="-120"/>
              </a:rPr>
              <a:t>object point cloud</a:t>
            </a:r>
            <a:pPr algn="l" indent="0" marL="0">
              <a:lnSpc>
                <a:spcPct val="110000"/>
              </a:lnSpc>
              <a:buNone/>
            </a:pPr>
            <a:r>
              <a:rPr lang="en-US" sz="600" dirty="0">
                <a:solidFill>
                  <a:srgbClr val="2B2E3C"/>
                </a:solidFill>
                <a:latin typeface="Open Sans" pitchFamily="34" charset="0"/>
                <a:ea typeface="Open Sans" pitchFamily="34" charset="-122"/>
                <a:cs typeface="Open Sans" pitchFamily="34" charset="-120"/>
              </a:rPr>
              <a:t> (the editable target). This decomposition is the foundation for non-destructive editing — all subsequent transformations are applied only to the object component while the environment remains completely unchanged.</a:t>
            </a:r>
            <a:endParaRPr lang="en-US" sz="600" dirty="0"/>
          </a:p>
        </p:txBody>
      </p:sp>
      <p:pic>
        <p:nvPicPr>
          <p:cNvPr id="6" name="Image 0" descr="preencoded.png">    </p:cNvPr>
          <p:cNvPicPr>
            <a:picLocks noChangeAspect="1"/>
          </p:cNvPicPr>
          <p:nvPr/>
        </p:nvPicPr>
        <p:blipFill>
          <a:blip r:embed="rId1"/>
          <a:stretch>
            <a:fillRect/>
          </a:stretch>
        </p:blipFill>
        <p:spPr>
          <a:xfrm>
            <a:off x="496119" y="1112713"/>
            <a:ext cx="8151763" cy="2635672"/>
          </a:xfrm>
          <a:prstGeom prst="rect">
            <a:avLst/>
          </a:prstGeom>
        </p:spPr>
      </p:pic>
      <p:sp>
        <p:nvSpPr>
          <p:cNvPr id="7" name="Text 4"/>
          <p:cNvSpPr/>
          <p:nvPr/>
        </p:nvSpPr>
        <p:spPr>
          <a:xfrm>
            <a:off x="1094182" y="2801588"/>
            <a:ext cx="1788604" cy="223576"/>
          </a:xfrm>
          <a:prstGeom prst="rect">
            <a:avLst/>
          </a:prstGeom>
          <a:noFill/>
          <a:ln/>
        </p:spPr>
        <p:txBody>
          <a:bodyPr wrap="none" lIns="0" tIns="0" rIns="0" bIns="0" rtlCol="0" anchor="t"/>
          <a:lstStyle/>
          <a:p>
            <a:pPr algn="r" indent="0" marL="0">
              <a:lnSpc>
                <a:spcPct val="104000"/>
              </a:lnSpc>
              <a:buNone/>
            </a:pPr>
            <a:r>
              <a:rPr lang="en-US" sz="1400" dirty="0">
                <a:solidFill>
                  <a:srgbClr val="2C3F42"/>
                </a:solidFill>
                <a:latin typeface="Bitter Medium" pitchFamily="34" charset="0"/>
                <a:ea typeface="Bitter Medium" pitchFamily="34" charset="-122"/>
                <a:cs typeface="Bitter Medium" pitchFamily="34" charset="-120"/>
              </a:rPr>
              <a:t>Original Scene</a:t>
            </a:r>
            <a:endParaRPr lang="en-US" sz="1400" dirty="0"/>
          </a:p>
        </p:txBody>
      </p:sp>
      <p:sp>
        <p:nvSpPr>
          <p:cNvPr id="8" name="Text 5"/>
          <p:cNvSpPr/>
          <p:nvPr/>
        </p:nvSpPr>
        <p:spPr>
          <a:xfrm>
            <a:off x="688765" y="3088759"/>
            <a:ext cx="2194021" cy="148057"/>
          </a:xfrm>
          <a:prstGeom prst="rect">
            <a:avLst/>
          </a:prstGeom>
          <a:noFill/>
          <a:ln/>
        </p:spPr>
        <p:txBody>
          <a:bodyPr wrap="none" lIns="0" tIns="0" rIns="0" bIns="0" rtlCol="0" anchor="t"/>
          <a:lstStyle/>
          <a:p>
            <a:pPr algn="r" indent="0" marL="0">
              <a:lnSpc>
                <a:spcPct val="86000"/>
              </a:lnSpc>
              <a:buNone/>
            </a:pPr>
            <a:r>
              <a:rPr lang="en-US" sz="1100" dirty="0">
                <a:solidFill>
                  <a:srgbClr val="2B2E3C"/>
                </a:solidFill>
                <a:latin typeface="Open Sans" pitchFamily="34" charset="0"/>
                <a:ea typeface="Open Sans" pitchFamily="34" charset="-122"/>
                <a:cs typeface="Open Sans" pitchFamily="34" charset="-120"/>
              </a:rPr>
              <a:t>Capture full point-cloud scene</a:t>
            </a:r>
            <a:endParaRPr lang="en-US" sz="1100" dirty="0"/>
          </a:p>
        </p:txBody>
      </p:sp>
      <p:sp>
        <p:nvSpPr>
          <p:cNvPr id="9" name="Text 6"/>
          <p:cNvSpPr/>
          <p:nvPr/>
        </p:nvSpPr>
        <p:spPr>
          <a:xfrm>
            <a:off x="6316782" y="2177564"/>
            <a:ext cx="1788604" cy="223575"/>
          </a:xfrm>
          <a:prstGeom prst="rect">
            <a:avLst/>
          </a:prstGeom>
          <a:noFill/>
          <a:ln/>
        </p:spPr>
        <p:txBody>
          <a:bodyPr wrap="none" lIns="0" tIns="0" rIns="0" bIns="0" rtlCol="0" anchor="t"/>
          <a:lstStyle/>
          <a:p>
            <a:pPr algn="l" indent="0" marL="0">
              <a:lnSpc>
                <a:spcPct val="104000"/>
              </a:lnSpc>
              <a:buNone/>
            </a:pPr>
            <a:r>
              <a:rPr lang="en-US" sz="1400" dirty="0">
                <a:solidFill>
                  <a:srgbClr val="2C3F42"/>
                </a:solidFill>
                <a:latin typeface="Bitter Medium" pitchFamily="34" charset="0"/>
                <a:ea typeface="Bitter Medium" pitchFamily="34" charset="-122"/>
                <a:cs typeface="Bitter Medium" pitchFamily="34" charset="-120"/>
              </a:rPr>
              <a:t>Room Point Cloud</a:t>
            </a:r>
            <a:endParaRPr lang="en-US" sz="1400" dirty="0"/>
          </a:p>
        </p:txBody>
      </p:sp>
      <p:sp>
        <p:nvSpPr>
          <p:cNvPr id="10" name="Text 7"/>
          <p:cNvSpPr/>
          <p:nvPr/>
        </p:nvSpPr>
        <p:spPr>
          <a:xfrm>
            <a:off x="6316782" y="2464734"/>
            <a:ext cx="2138376" cy="148057"/>
          </a:xfrm>
          <a:prstGeom prst="rect">
            <a:avLst/>
          </a:prstGeom>
          <a:noFill/>
          <a:ln/>
        </p:spPr>
        <p:txBody>
          <a:bodyPr wrap="none" lIns="0" tIns="0" rIns="0" bIns="0" rtlCol="0" anchor="t"/>
          <a:lstStyle/>
          <a:p>
            <a:pPr algn="l" indent="0" marL="0">
              <a:lnSpc>
                <a:spcPct val="86000"/>
              </a:lnSpc>
              <a:buNone/>
            </a:pPr>
            <a:r>
              <a:rPr lang="en-US" sz="1100" dirty="0">
                <a:solidFill>
                  <a:srgbClr val="2B2E3C"/>
                </a:solidFill>
                <a:latin typeface="Open Sans" pitchFamily="34" charset="0"/>
                <a:ea typeface="Open Sans" pitchFamily="34" charset="-122"/>
                <a:cs typeface="Open Sans" pitchFamily="34" charset="-120"/>
              </a:rPr>
              <a:t>Static environment preserved</a:t>
            </a:r>
            <a:endParaRPr lang="en-US" sz="1100" dirty="0"/>
          </a:p>
        </p:txBody>
      </p:sp>
      <p:sp>
        <p:nvSpPr>
          <p:cNvPr id="11" name="Text 8"/>
          <p:cNvSpPr/>
          <p:nvPr/>
        </p:nvSpPr>
        <p:spPr>
          <a:xfrm>
            <a:off x="1094057" y="1609185"/>
            <a:ext cx="1788604" cy="223575"/>
          </a:xfrm>
          <a:prstGeom prst="rect">
            <a:avLst/>
          </a:prstGeom>
          <a:noFill/>
          <a:ln/>
        </p:spPr>
        <p:txBody>
          <a:bodyPr wrap="none" lIns="0" tIns="0" rIns="0" bIns="0" rtlCol="0" anchor="t"/>
          <a:lstStyle/>
          <a:p>
            <a:pPr algn="r" indent="0" marL="0">
              <a:lnSpc>
                <a:spcPct val="104000"/>
              </a:lnSpc>
              <a:buNone/>
            </a:pPr>
            <a:r>
              <a:rPr lang="en-US" sz="1400" dirty="0">
                <a:solidFill>
                  <a:srgbClr val="2C3F42"/>
                </a:solidFill>
                <a:latin typeface="Bitter Medium" pitchFamily="34" charset="0"/>
                <a:ea typeface="Bitter Medium" pitchFamily="34" charset="-122"/>
                <a:cs typeface="Bitter Medium" pitchFamily="34" charset="-120"/>
              </a:rPr>
              <a:t>Object Point Cloud</a:t>
            </a:r>
            <a:endParaRPr lang="en-US" sz="1400" dirty="0"/>
          </a:p>
        </p:txBody>
      </p:sp>
      <p:sp>
        <p:nvSpPr>
          <p:cNvPr id="12" name="Text 9"/>
          <p:cNvSpPr/>
          <p:nvPr/>
        </p:nvSpPr>
        <p:spPr>
          <a:xfrm>
            <a:off x="688640" y="1896356"/>
            <a:ext cx="2194021" cy="148057"/>
          </a:xfrm>
          <a:prstGeom prst="rect">
            <a:avLst/>
          </a:prstGeom>
          <a:noFill/>
          <a:ln/>
        </p:spPr>
        <p:txBody>
          <a:bodyPr wrap="none" lIns="0" tIns="0" rIns="0" bIns="0" rtlCol="0" anchor="t"/>
          <a:lstStyle/>
          <a:p>
            <a:pPr algn="r" indent="0" marL="0">
              <a:lnSpc>
                <a:spcPct val="86000"/>
              </a:lnSpc>
              <a:buNone/>
            </a:pPr>
            <a:r>
              <a:rPr lang="en-US" sz="1100" dirty="0">
                <a:solidFill>
                  <a:srgbClr val="2B2E3C"/>
                </a:solidFill>
                <a:latin typeface="Open Sans" pitchFamily="34" charset="0"/>
                <a:ea typeface="Open Sans" pitchFamily="34" charset="-122"/>
                <a:cs typeface="Open Sans" pitchFamily="34" charset="-120"/>
              </a:rPr>
              <a:t>Editable target, transformed</a:t>
            </a:r>
            <a:endParaRPr lang="en-US" sz="1100" dirty="0"/>
          </a:p>
        </p:txBody>
      </p:sp>
      <p:sp>
        <p:nvSpPr>
          <p:cNvPr id="13" name="Text 10"/>
          <p:cNvSpPr/>
          <p:nvPr/>
        </p:nvSpPr>
        <p:spPr>
          <a:xfrm>
            <a:off x="496119" y="3808437"/>
            <a:ext cx="8608963" cy="107826"/>
          </a:xfrm>
          <a:prstGeom prst="rect">
            <a:avLst/>
          </a:prstGeom>
          <a:noFill/>
          <a:ln/>
        </p:spPr>
        <p:txBody>
          <a:bodyPr wrap="none" lIns="0" tIns="0" rIns="0" bIns="0" rtlCol="0" anchor="t"/>
          <a:lstStyle/>
          <a:p>
            <a:pPr algn="l" indent="0" marL="0">
              <a:lnSpc>
                <a:spcPct val="110000"/>
              </a:lnSpc>
              <a:buNone/>
            </a:pPr>
            <a:r>
              <a:rPr lang="en-US" sz="600" dirty="0">
                <a:solidFill>
                  <a:srgbClr val="2B2E3C"/>
                </a:solidFill>
                <a:latin typeface="Open Sans" pitchFamily="34" charset="0"/>
                <a:ea typeface="Open Sans" pitchFamily="34" charset="-122"/>
                <a:cs typeface="Open Sans" pitchFamily="34" charset="-120"/>
              </a:rPr>
              <a:t>The decomposition is entirely non-destructive. Every piece of metadata required for faithful reconstruction is preserved alongside the split representation.</a:t>
            </a:r>
            <a:endParaRPr lang="en-US" sz="600" dirty="0"/>
          </a:p>
        </p:txBody>
      </p:sp>
      <p:sp>
        <p:nvSpPr>
          <p:cNvPr id="14" name="Shape 11"/>
          <p:cNvSpPr/>
          <p:nvPr/>
        </p:nvSpPr>
        <p:spPr>
          <a:xfrm>
            <a:off x="437480" y="3976315"/>
            <a:ext cx="4093890" cy="821010"/>
          </a:xfrm>
          <a:prstGeom prst="roundRect">
            <a:avLst>
              <a:gd name="adj" fmla="val 7139"/>
            </a:avLst>
          </a:prstGeom>
          <a:solidFill>
            <a:srgbClr val="D2600F"/>
          </a:solidFill>
          <a:ln/>
        </p:spPr>
      </p:sp>
      <p:sp>
        <p:nvSpPr>
          <p:cNvPr id="15" name="Text 12"/>
          <p:cNvSpPr/>
          <p:nvPr/>
        </p:nvSpPr>
        <p:spPr>
          <a:xfrm>
            <a:off x="518815" y="4029670"/>
            <a:ext cx="3931221" cy="127099"/>
          </a:xfrm>
          <a:prstGeom prst="rect">
            <a:avLst/>
          </a:prstGeom>
          <a:noFill/>
          <a:ln/>
        </p:spPr>
        <p:txBody>
          <a:bodyPr wrap="none" lIns="0" tIns="0" rIns="0" bIns="0" rtlCol="0" anchor="t"/>
          <a:lstStyle/>
          <a:p>
            <a:pPr algn="l" indent="0" marL="0">
              <a:lnSpc>
                <a:spcPct val="104000"/>
              </a:lnSpc>
              <a:buNone/>
            </a:pPr>
            <a:r>
              <a:rPr lang="en-US" sz="800" dirty="0">
                <a:solidFill>
                  <a:srgbClr val="000000"/>
                </a:solidFill>
                <a:latin typeface="Bitter Medium" pitchFamily="34" charset="0"/>
                <a:ea typeface="Bitter Medium" pitchFamily="34" charset="-122"/>
                <a:cs typeface="Bitter Medium" pitchFamily="34" charset="-120"/>
              </a:rPr>
              <a:t>Preserved Metadata</a:t>
            </a:r>
            <a:endParaRPr lang="en-US" sz="800" dirty="0"/>
          </a:p>
        </p:txBody>
      </p:sp>
      <p:sp>
        <p:nvSpPr>
          <p:cNvPr id="16" name="Text 13"/>
          <p:cNvSpPr/>
          <p:nvPr/>
        </p:nvSpPr>
        <p:spPr>
          <a:xfrm>
            <a:off x="518815" y="4210124"/>
            <a:ext cx="3931221" cy="487338"/>
          </a:xfrm>
          <a:prstGeom prst="rect">
            <a:avLst/>
          </a:prstGeom>
          <a:noFill/>
          <a:ln/>
        </p:spPr>
        <p:txBody>
          <a:bodyPr wrap="square" lIns="0" tIns="0" rIns="0" bIns="0" rtlCol="0" anchor="t">
            <a:normAutofit/>
          </a:bodyPr>
          <a:lstStyle/>
          <a:p>
            <a:pPr algn="l" marL="121920" indent="-121920">
              <a:lnSpc>
                <a:spcPct val="110000"/>
              </a:lnSpc>
              <a:buSzPct val="100000"/>
              <a:buChar char="•"/>
            </a:pPr>
            <a:r>
              <a:rPr lang="en-US" sz="600" b="1" dirty="0">
                <a:solidFill>
                  <a:srgbClr val="000000"/>
                </a:solidFill>
                <a:latin typeface="Open Sans Bold" pitchFamily="34" charset="0"/>
                <a:ea typeface="Open Sans Bold" pitchFamily="34" charset="-122"/>
                <a:cs typeface="Open Sans Bold" pitchFamily="34" charset="-120"/>
              </a:rPr>
              <a:t>Original point indices</a:t>
            </a:r>
            <a:pPr algn="l" marL="121920" indent="-121920">
              <a:lnSpc>
                <a:spcPct val="110000"/>
              </a:lnSpc>
              <a:buSzPct val="100000"/>
              <a:buChar char="•"/>
            </a:pPr>
            <a:r>
              <a:rPr lang="en-US" sz="600" dirty="0">
                <a:solidFill>
                  <a:srgbClr val="000000"/>
                </a:solidFill>
                <a:latin typeface="Open Sans" pitchFamily="34" charset="0"/>
                <a:ea typeface="Open Sans" pitchFamily="34" charset="-122"/>
                <a:cs typeface="Open Sans" pitchFamily="34" charset="-120"/>
              </a:rPr>
              <a:t> — mapping back to the source scene</a:t>
            </a:r>
            <a:endParaRPr lang="en-US" sz="600" dirty="0"/>
          </a:p>
          <a:p>
            <a:pPr algn="l" marL="121920" indent="-121920">
              <a:lnSpc>
                <a:spcPct val="110000"/>
              </a:lnSpc>
              <a:buSzPct val="100000"/>
              <a:buChar char="•"/>
            </a:pPr>
            <a:r>
              <a:rPr lang="en-US" sz="600" b="1" dirty="0">
                <a:solidFill>
                  <a:srgbClr val="000000"/>
                </a:solidFill>
                <a:latin typeface="Open Sans Bold" pitchFamily="34" charset="0"/>
                <a:ea typeface="Open Sans Bold" pitchFamily="34" charset="-122"/>
                <a:cs typeface="Open Sans Bold" pitchFamily="34" charset="-120"/>
              </a:rPr>
              <a:t>Cluster masks</a:t>
            </a:r>
            <a:pPr algn="l" marL="121920" indent="-121920">
              <a:lnSpc>
                <a:spcPct val="110000"/>
              </a:lnSpc>
              <a:buSzPct val="100000"/>
              <a:buChar char="•"/>
            </a:pPr>
            <a:r>
              <a:rPr lang="en-US" sz="600" dirty="0">
                <a:solidFill>
                  <a:srgbClr val="000000"/>
                </a:solidFill>
                <a:latin typeface="Open Sans" pitchFamily="34" charset="0"/>
                <a:ea typeface="Open Sans" pitchFamily="34" charset="-122"/>
                <a:cs typeface="Open Sans" pitchFamily="34" charset="-120"/>
              </a:rPr>
              <a:t> — for re-merging after editing</a:t>
            </a:r>
            <a:endParaRPr lang="en-US" sz="600" dirty="0"/>
          </a:p>
          <a:p>
            <a:pPr algn="l" marL="121920" indent="-121920">
              <a:lnSpc>
                <a:spcPct val="110000"/>
              </a:lnSpc>
              <a:buSzPct val="100000"/>
              <a:buChar char="•"/>
            </a:pPr>
            <a:r>
              <a:rPr lang="en-US" sz="600" b="1" dirty="0">
                <a:solidFill>
                  <a:srgbClr val="000000"/>
                </a:solidFill>
                <a:latin typeface="Open Sans Bold" pitchFamily="34" charset="0"/>
                <a:ea typeface="Open Sans Bold" pitchFamily="34" charset="-122"/>
                <a:cs typeface="Open Sans Bold" pitchFamily="34" charset="-120"/>
              </a:rPr>
              <a:t>Gaussian ownership</a:t>
            </a:r>
            <a:pPr algn="l" marL="121920" indent="-121920">
              <a:lnSpc>
                <a:spcPct val="110000"/>
              </a:lnSpc>
              <a:buSzPct val="100000"/>
              <a:buChar char="•"/>
            </a:pPr>
            <a:r>
              <a:rPr lang="en-US" sz="600" dirty="0">
                <a:solidFill>
                  <a:srgbClr val="000000"/>
                </a:solidFill>
                <a:latin typeface="Open Sans" pitchFamily="34" charset="0"/>
                <a:ea typeface="Open Sans" pitchFamily="34" charset="-122"/>
                <a:cs typeface="Open Sans" pitchFamily="34" charset="-120"/>
              </a:rPr>
              <a:t> — which Gaussians belong to which component</a:t>
            </a:r>
            <a:endParaRPr lang="en-US" sz="600" dirty="0"/>
          </a:p>
          <a:p>
            <a:pPr algn="l" marL="121920" indent="-121920">
              <a:lnSpc>
                <a:spcPct val="110000"/>
              </a:lnSpc>
              <a:buSzPct val="100000"/>
              <a:buChar char="•"/>
            </a:pPr>
            <a:r>
              <a:rPr lang="en-US" sz="600" b="1" dirty="0">
                <a:solidFill>
                  <a:srgbClr val="000000"/>
                </a:solidFill>
                <a:latin typeface="Open Sans Bold" pitchFamily="34" charset="0"/>
                <a:ea typeface="Open Sans Bold" pitchFamily="34" charset="-122"/>
                <a:cs typeface="Open Sans Bold" pitchFamily="34" charset="-120"/>
              </a:rPr>
              <a:t>Object centroid</a:t>
            </a:r>
            <a:pPr algn="l" marL="121920" indent="-121920">
              <a:lnSpc>
                <a:spcPct val="110000"/>
              </a:lnSpc>
              <a:buSzPct val="100000"/>
              <a:buChar char="•"/>
            </a:pPr>
            <a:r>
              <a:rPr lang="en-US" sz="600" dirty="0">
                <a:solidFill>
                  <a:srgbClr val="000000"/>
                </a:solidFill>
                <a:latin typeface="Open Sans" pitchFamily="34" charset="0"/>
                <a:ea typeface="Open Sans" pitchFamily="34" charset="-122"/>
                <a:cs typeface="Open Sans" pitchFamily="34" charset="-120"/>
              </a:rPr>
              <a:t> — pivot point for transformations</a:t>
            </a:r>
            <a:endParaRPr lang="en-US" sz="600" dirty="0"/>
          </a:p>
        </p:txBody>
      </p:sp>
      <p:sp>
        <p:nvSpPr>
          <p:cNvPr id="17" name="Text 14"/>
          <p:cNvSpPr/>
          <p:nvPr/>
        </p:nvSpPr>
        <p:spPr>
          <a:xfrm>
            <a:off x="4676031" y="4029670"/>
            <a:ext cx="3976613" cy="127099"/>
          </a:xfrm>
          <a:prstGeom prst="rect">
            <a:avLst/>
          </a:prstGeom>
          <a:noFill/>
          <a:ln/>
        </p:spPr>
        <p:txBody>
          <a:bodyPr wrap="none" lIns="0" tIns="0" rIns="0" bIns="0" rtlCol="0" anchor="t"/>
          <a:lstStyle/>
          <a:p>
            <a:pPr algn="l" indent="0" marL="0">
              <a:lnSpc>
                <a:spcPct val="104000"/>
              </a:lnSpc>
              <a:buNone/>
            </a:pPr>
            <a:r>
              <a:rPr lang="en-US" sz="800" dirty="0">
                <a:solidFill>
                  <a:srgbClr val="2C3F42"/>
                </a:solidFill>
                <a:latin typeface="Bitter Medium" pitchFamily="34" charset="0"/>
                <a:ea typeface="Bitter Medium" pitchFamily="34" charset="-122"/>
                <a:cs typeface="Bitter Medium" pitchFamily="34" charset="-120"/>
              </a:rPr>
              <a:t>Why Decomposition Matters</a:t>
            </a:r>
            <a:endParaRPr lang="en-US" sz="800" dirty="0"/>
          </a:p>
        </p:txBody>
      </p:sp>
      <p:sp>
        <p:nvSpPr>
          <p:cNvPr id="18" name="Text 15"/>
          <p:cNvSpPr/>
          <p:nvPr/>
        </p:nvSpPr>
        <p:spPr>
          <a:xfrm>
            <a:off x="4676031" y="4210124"/>
            <a:ext cx="3976613" cy="539130"/>
          </a:xfrm>
          <a:prstGeom prst="rect">
            <a:avLst/>
          </a:prstGeom>
          <a:noFill/>
          <a:ln/>
        </p:spPr>
        <p:txBody>
          <a:bodyPr wrap="square" lIns="0" tIns="0" rIns="0" bIns="0" rtlCol="0" anchor="t">
            <a:normAutofit/>
          </a:bodyPr>
          <a:lstStyle/>
          <a:p>
            <a:pPr algn="l" indent="0" marL="0">
              <a:lnSpc>
                <a:spcPct val="110000"/>
              </a:lnSpc>
              <a:buNone/>
            </a:pPr>
            <a:r>
              <a:rPr lang="en-US" sz="600" dirty="0">
                <a:solidFill>
                  <a:srgbClr val="2B2E3C"/>
                </a:solidFill>
                <a:latin typeface="Open Sans" pitchFamily="34" charset="0"/>
                <a:ea typeface="Open Sans" pitchFamily="34" charset="-122"/>
                <a:cs typeface="Open Sans" pitchFamily="34" charset="-120"/>
              </a:rPr>
              <a:t>Without clean decomposition, any transformation applied to the object would require re-processing the entire scene, introducing numerical instability and potential attribute corruption. By isolating the object, the system can apply arbitrary transformations — translation, rotation, scaling — with complete confidence that the environment remains pristine. The decomposition also enables efficient memory usage, as only the object component needs to be updated during interactive manipulation.</a:t>
            </a:r>
            <a:endParaRPr lang="en-US" sz="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96119" y="384274"/>
            <a:ext cx="1664568" cy="228302"/>
          </a:xfrm>
          <a:prstGeom prst="roundRect">
            <a:avLst>
              <a:gd name="adj" fmla="val 17971"/>
            </a:avLst>
          </a:prstGeom>
          <a:solidFill>
            <a:srgbClr val="FCE2CF"/>
          </a:solidFill>
          <a:ln/>
        </p:spPr>
      </p:sp>
      <p:sp>
        <p:nvSpPr>
          <p:cNvPr id="3" name="Text 1"/>
          <p:cNvSpPr/>
          <p:nvPr/>
        </p:nvSpPr>
        <p:spPr>
          <a:xfrm>
            <a:off x="569342" y="420886"/>
            <a:ext cx="1975321" cy="155079"/>
          </a:xfrm>
          <a:prstGeom prst="rect">
            <a:avLst/>
          </a:prstGeom>
          <a:noFill/>
          <a:ln/>
        </p:spPr>
        <p:txBody>
          <a:bodyPr wrap="none" lIns="0" tIns="0" rIns="0" bIns="0" rtlCol="0" anchor="t"/>
          <a:lstStyle/>
          <a:p>
            <a:pPr algn="l" indent="0" marL="0">
              <a:lnSpc>
                <a:spcPct val="132000"/>
              </a:lnSpc>
              <a:buNone/>
            </a:pPr>
            <a:r>
              <a:rPr lang="en-US" sz="750" dirty="0">
                <a:solidFill>
                  <a:srgbClr val="2B2E3C"/>
                </a:solidFill>
                <a:latin typeface="Open Sans" pitchFamily="34" charset="0"/>
                <a:ea typeface="Open Sans" pitchFamily="34" charset="-122"/>
                <a:cs typeface="Open Sans" pitchFamily="34" charset="-120"/>
              </a:rPr>
              <a:t>STAGE 6 — CORE CONTRIBUTION</a:t>
            </a:r>
            <a:endParaRPr lang="en-US" sz="750" dirty="0"/>
          </a:p>
        </p:txBody>
      </p:sp>
      <p:sp>
        <p:nvSpPr>
          <p:cNvPr id="4" name="Text 2"/>
          <p:cNvSpPr/>
          <p:nvPr/>
        </p:nvSpPr>
        <p:spPr>
          <a:xfrm>
            <a:off x="496119" y="660648"/>
            <a:ext cx="8151763" cy="381521"/>
          </a:xfrm>
          <a:prstGeom prst="rect">
            <a:avLst/>
          </a:prstGeom>
          <a:noFill/>
          <a:ln/>
        </p:spPr>
        <p:txBody>
          <a:bodyPr wrap="none" lIns="0" tIns="0" rIns="0" bIns="0" rtlCol="0" anchor="t"/>
          <a:lstStyle/>
          <a:p>
            <a:pPr algn="l" indent="0" marL="0">
              <a:lnSpc>
                <a:spcPct val="104000"/>
              </a:lnSpc>
              <a:buNone/>
            </a:pPr>
            <a:r>
              <a:rPr lang="en-US" sz="2400" dirty="0">
                <a:solidFill>
                  <a:srgbClr val="2C3F42"/>
                </a:solidFill>
                <a:latin typeface="Bitter Medium" pitchFamily="34" charset="0"/>
                <a:ea typeface="Bitter Medium" pitchFamily="34" charset="-122"/>
                <a:cs typeface="Bitter Medium" pitchFamily="34" charset="-120"/>
              </a:rPr>
              <a:t>Gaussian Representation Management</a:t>
            </a:r>
            <a:endParaRPr lang="en-US" sz="2400" dirty="0"/>
          </a:p>
        </p:txBody>
      </p:sp>
      <p:sp>
        <p:nvSpPr>
          <p:cNvPr id="5" name="Text 3"/>
          <p:cNvSpPr/>
          <p:nvPr/>
        </p:nvSpPr>
        <p:spPr>
          <a:xfrm>
            <a:off x="496119" y="1222400"/>
            <a:ext cx="8151763" cy="387697"/>
          </a:xfrm>
          <a:prstGeom prst="rect">
            <a:avLst/>
          </a:prstGeom>
          <a:noFill/>
          <a:ln/>
        </p:spPr>
        <p:txBody>
          <a:bodyPr wrap="square" lIns="0" tIns="0" rIns="0" bIns="0" rtlCol="0" anchor="t">
            <a:normAutofit/>
          </a:bodyPr>
          <a:lstStyle/>
          <a:p>
            <a:pPr algn="l" indent="0" marL="0">
              <a:lnSpc>
                <a:spcPct val="132000"/>
              </a:lnSpc>
              <a:buNone/>
            </a:pPr>
            <a:r>
              <a:rPr lang="en-US" sz="950" dirty="0">
                <a:solidFill>
                  <a:srgbClr val="2B2E3C"/>
                </a:solidFill>
                <a:latin typeface="Open Sans" pitchFamily="34" charset="0"/>
                <a:ea typeface="Open Sans" pitchFamily="34" charset="-122"/>
                <a:cs typeface="Open Sans" pitchFamily="34" charset="-120"/>
              </a:rPr>
              <a:t>This stage represents the </a:t>
            </a:r>
            <a:pPr algn="l" indent="0" marL="0">
              <a:lnSpc>
                <a:spcPct val="132000"/>
              </a:lnSpc>
              <a:buNone/>
            </a:pPr>
            <a:r>
              <a:rPr lang="en-US" sz="950" b="1" dirty="0">
                <a:solidFill>
                  <a:srgbClr val="2B2E3C"/>
                </a:solidFill>
                <a:latin typeface="Open Sans Bold" pitchFamily="34" charset="0"/>
                <a:ea typeface="Open Sans Bold" pitchFamily="34" charset="-122"/>
                <a:cs typeface="Open Sans Bold" pitchFamily="34" charset="-120"/>
              </a:rPr>
              <a:t>primary technical contribution</a:t>
            </a:r>
            <a:pPr algn="l" indent="0" marL="0">
              <a:lnSpc>
                <a:spcPct val="132000"/>
              </a:lnSpc>
              <a:buNone/>
            </a:pPr>
            <a:r>
              <a:rPr lang="en-US" sz="950" dirty="0">
                <a:solidFill>
                  <a:srgbClr val="2B2E3C"/>
                </a:solidFill>
                <a:latin typeface="Open Sans" pitchFamily="34" charset="0"/>
                <a:ea typeface="Open Sans" pitchFamily="34" charset="-122"/>
                <a:cs typeface="Open Sans" pitchFamily="34" charset="-120"/>
              </a:rPr>
              <a:t> of the system. The challenge is to generate or preserve a complete Gaussian representation of the selected object that maintains full attribute fidelity through editing and export.</a:t>
            </a:r>
            <a:endParaRPr lang="en-US" sz="950" dirty="0"/>
          </a:p>
        </p:txBody>
      </p:sp>
      <p:sp>
        <p:nvSpPr>
          <p:cNvPr id="6" name="Text 4"/>
          <p:cNvSpPr/>
          <p:nvPr/>
        </p:nvSpPr>
        <p:spPr>
          <a:xfrm>
            <a:off x="496119" y="1865486"/>
            <a:ext cx="3926979" cy="190723"/>
          </a:xfrm>
          <a:prstGeom prst="rect">
            <a:avLst/>
          </a:prstGeom>
          <a:noFill/>
          <a:ln/>
        </p:spPr>
        <p:txBody>
          <a:bodyPr wrap="none" lIns="0" tIns="0" rIns="0" bIns="0" rtlCol="0" anchor="t"/>
          <a:lstStyle/>
          <a:p>
            <a:pPr algn="l" indent="0" marL="0">
              <a:lnSpc>
                <a:spcPct val="104000"/>
              </a:lnSpc>
              <a:buNone/>
            </a:pPr>
            <a:r>
              <a:rPr lang="en-US" sz="1200" dirty="0">
                <a:solidFill>
                  <a:srgbClr val="2C3F42"/>
                </a:solidFill>
                <a:latin typeface="Bitter Medium" pitchFamily="34" charset="0"/>
                <a:ea typeface="Bitter Medium" pitchFamily="34" charset="-122"/>
                <a:cs typeface="Bitter Medium" pitchFamily="34" charset="-120"/>
              </a:rPr>
              <a:t>Initial Approach — Direct Generation</a:t>
            </a:r>
            <a:endParaRPr lang="en-US" sz="1200" dirty="0"/>
          </a:p>
        </p:txBody>
      </p:sp>
      <p:sp>
        <p:nvSpPr>
          <p:cNvPr id="7" name="Text 5"/>
          <p:cNvSpPr/>
          <p:nvPr/>
        </p:nvSpPr>
        <p:spPr>
          <a:xfrm>
            <a:off x="496119" y="2176388"/>
            <a:ext cx="3926979" cy="969243"/>
          </a:xfrm>
          <a:prstGeom prst="rect">
            <a:avLst/>
          </a:prstGeom>
          <a:noFill/>
          <a:ln/>
        </p:spPr>
        <p:txBody>
          <a:bodyPr wrap="square" lIns="0" tIns="0" rIns="0" bIns="0" rtlCol="0" anchor="t">
            <a:normAutofit/>
          </a:bodyPr>
          <a:lstStyle/>
          <a:p>
            <a:pPr algn="l" indent="0" marL="0">
              <a:lnSpc>
                <a:spcPct val="132000"/>
              </a:lnSpc>
              <a:buNone/>
            </a:pPr>
            <a:r>
              <a:rPr lang="en-US" sz="950" dirty="0">
                <a:solidFill>
                  <a:srgbClr val="2B2E3C"/>
                </a:solidFill>
                <a:latin typeface="Open Sans" pitchFamily="34" charset="0"/>
                <a:ea typeface="Open Sans" pitchFamily="34" charset="-122"/>
                <a:cs typeface="Open Sans" pitchFamily="34" charset="-120"/>
              </a:rPr>
              <a:t>The original implementation generated Gaussians from the point cloud using KD-Tree neighbor search, PCA, and covariance estimation. Each point was converted into an anisotropic Gaussian with parameters for mean, covariance, scale, rotation, opacity, and color.</a:t>
            </a:r>
            <a:endParaRPr lang="en-US" sz="950" dirty="0"/>
          </a:p>
        </p:txBody>
      </p:sp>
      <p:sp>
        <p:nvSpPr>
          <p:cNvPr id="8" name="Shape 6"/>
          <p:cNvSpPr/>
          <p:nvPr/>
        </p:nvSpPr>
        <p:spPr>
          <a:xfrm>
            <a:off x="496119" y="3280842"/>
            <a:ext cx="3926979" cy="1052661"/>
          </a:xfrm>
          <a:prstGeom prst="roundRect">
            <a:avLst>
              <a:gd name="adj" fmla="val 4872"/>
            </a:avLst>
          </a:prstGeom>
          <a:solidFill>
            <a:srgbClr val="FCF2B5"/>
          </a:solidFill>
          <a:ln/>
        </p:spPr>
      </p:sp>
      <p:pic>
        <p:nvPicPr>
          <p:cNvPr id="9" name="Image 0" descr="preencoded.png">    </p:cNvPr>
          <p:cNvPicPr>
            <a:picLocks noChangeAspect="1"/>
          </p:cNvPicPr>
          <p:nvPr/>
        </p:nvPicPr>
        <p:blipFill>
          <a:blip r:embed="rId1"/>
          <a:stretch>
            <a:fillRect/>
          </a:stretch>
        </p:blipFill>
        <p:spPr>
          <a:xfrm>
            <a:off x="618158" y="3464719"/>
            <a:ext cx="152623" cy="122039"/>
          </a:xfrm>
          <a:prstGeom prst="rect">
            <a:avLst/>
          </a:prstGeom>
        </p:spPr>
      </p:pic>
      <p:sp>
        <p:nvSpPr>
          <p:cNvPr id="10" name="Text 7"/>
          <p:cNvSpPr/>
          <p:nvPr/>
        </p:nvSpPr>
        <p:spPr>
          <a:xfrm>
            <a:off x="892820" y="3419475"/>
            <a:ext cx="3408238" cy="775395"/>
          </a:xfrm>
          <a:prstGeom prst="rect">
            <a:avLst/>
          </a:prstGeom>
          <a:noFill/>
          <a:ln/>
        </p:spPr>
        <p:txBody>
          <a:bodyPr wrap="square" lIns="0" tIns="0" rIns="0" bIns="0" rtlCol="0" anchor="t">
            <a:normAutofit/>
          </a:bodyPr>
          <a:lstStyle/>
          <a:p>
            <a:pPr algn="l" indent="0" marL="0">
              <a:lnSpc>
                <a:spcPct val="132000"/>
              </a:lnSpc>
              <a:buNone/>
            </a:pPr>
            <a:r>
              <a:rPr lang="en-US" sz="950" b="1" dirty="0">
                <a:solidFill>
                  <a:srgbClr val="000000"/>
                </a:solidFill>
                <a:latin typeface="Open Sans Bold" pitchFamily="34" charset="0"/>
                <a:ea typeface="Open Sans Bold" pitchFamily="34" charset="-122"/>
                <a:cs typeface="Open Sans Bold" pitchFamily="34" charset="-120"/>
              </a:rPr>
              <a:t>Critical Flaw:</a:t>
            </a:r>
            <a:pPr algn="l" indent="0" marL="0">
              <a:lnSpc>
                <a:spcPct val="132000"/>
              </a:lnSpc>
              <a:buNone/>
            </a:pPr>
            <a:r>
              <a:rPr lang="en-US" sz="950" dirty="0">
                <a:solidFill>
                  <a:srgbClr val="000000"/>
                </a:solidFill>
                <a:latin typeface="Open Sans" pitchFamily="34" charset="0"/>
                <a:ea typeface="Open Sans" pitchFamily="34" charset="-122"/>
                <a:cs typeface="Open Sans" pitchFamily="34" charset="-120"/>
              </a:rPr>
              <a:t> During export, the Gaussian scene was reconstructed from point clouds, causing irreversible loss of scale, rotation, opacity, and SH coefficients — resulting in visibly degraded quality.</a:t>
            </a:r>
            <a:endParaRPr lang="en-US" sz="950" dirty="0"/>
          </a:p>
        </p:txBody>
      </p:sp>
      <p:sp>
        <p:nvSpPr>
          <p:cNvPr id="11" name="Shape 8"/>
          <p:cNvSpPr/>
          <p:nvPr/>
        </p:nvSpPr>
        <p:spPr>
          <a:xfrm>
            <a:off x="4637782" y="1745307"/>
            <a:ext cx="4102745" cy="3013918"/>
          </a:xfrm>
          <a:prstGeom prst="roundRect">
            <a:avLst>
              <a:gd name="adj" fmla="val 2917"/>
            </a:avLst>
          </a:prstGeom>
          <a:solidFill>
            <a:srgbClr val="D2600F"/>
          </a:solidFill>
          <a:ln/>
        </p:spPr>
      </p:sp>
      <p:sp>
        <p:nvSpPr>
          <p:cNvPr id="12" name="Text 9"/>
          <p:cNvSpPr/>
          <p:nvPr/>
        </p:nvSpPr>
        <p:spPr>
          <a:xfrm>
            <a:off x="4759821" y="1865486"/>
            <a:ext cx="3858667" cy="190723"/>
          </a:xfrm>
          <a:prstGeom prst="rect">
            <a:avLst/>
          </a:prstGeom>
          <a:noFill/>
          <a:ln/>
        </p:spPr>
        <p:txBody>
          <a:bodyPr wrap="none" lIns="0" tIns="0" rIns="0" bIns="0" rtlCol="0" anchor="t"/>
          <a:lstStyle/>
          <a:p>
            <a:pPr algn="l" indent="0" marL="0">
              <a:lnSpc>
                <a:spcPct val="104000"/>
              </a:lnSpc>
              <a:buNone/>
            </a:pPr>
            <a:r>
              <a:rPr lang="en-US" sz="1200" dirty="0">
                <a:solidFill>
                  <a:srgbClr val="000000"/>
                </a:solidFill>
                <a:latin typeface="Bitter Medium" pitchFamily="34" charset="0"/>
                <a:ea typeface="Bitter Medium" pitchFamily="34" charset="-122"/>
                <a:cs typeface="Bitter Medium" pitchFamily="34" charset="-120"/>
              </a:rPr>
              <a:t>Improved Solution — SourceSplat Architecture</a:t>
            </a:r>
            <a:endParaRPr lang="en-US" sz="1200" dirty="0"/>
          </a:p>
        </p:txBody>
      </p:sp>
      <p:sp>
        <p:nvSpPr>
          <p:cNvPr id="13" name="Text 10"/>
          <p:cNvSpPr/>
          <p:nvPr/>
        </p:nvSpPr>
        <p:spPr>
          <a:xfrm>
            <a:off x="4759821" y="2176388"/>
            <a:ext cx="3858667" cy="581546"/>
          </a:xfrm>
          <a:prstGeom prst="rect">
            <a:avLst/>
          </a:prstGeom>
          <a:noFill/>
          <a:ln/>
        </p:spPr>
        <p:txBody>
          <a:bodyPr wrap="square" lIns="0" tIns="0" rIns="0" bIns="0" rtlCol="0" anchor="t">
            <a:normAutofit/>
          </a:bodyPr>
          <a:lstStyle/>
          <a:p>
            <a:pPr algn="l" indent="0" marL="0">
              <a:lnSpc>
                <a:spcPct val="132000"/>
              </a:lnSpc>
              <a:buNone/>
            </a:pPr>
            <a:r>
              <a:rPr lang="en-US" sz="950" dirty="0">
                <a:solidFill>
                  <a:srgbClr val="000000"/>
                </a:solidFill>
                <a:latin typeface="Open Sans" pitchFamily="34" charset="0"/>
                <a:ea typeface="Open Sans" pitchFamily="34" charset="-122"/>
                <a:cs typeface="Open Sans" pitchFamily="34" charset="-120"/>
              </a:rPr>
              <a:t>The improved architecture eliminates reconstruction entirely. Instead of regenerating Gaussians, the system </a:t>
            </a:r>
            <a:pPr algn="l" indent="0" marL="0">
              <a:lnSpc>
                <a:spcPct val="132000"/>
              </a:lnSpc>
              <a:buNone/>
            </a:pPr>
            <a:r>
              <a:rPr lang="en-US" sz="950" b="1" dirty="0">
                <a:solidFill>
                  <a:srgbClr val="000000"/>
                </a:solidFill>
                <a:latin typeface="Open Sans Bold" pitchFamily="34" charset="0"/>
                <a:ea typeface="Open Sans Bold" pitchFamily="34" charset="-122"/>
                <a:cs typeface="Open Sans Bold" pitchFamily="34" charset="-120"/>
              </a:rPr>
              <a:t>preserves original Gaussian attributes</a:t>
            </a:r>
            <a:pPr algn="l" indent="0" marL="0">
              <a:lnSpc>
                <a:spcPct val="132000"/>
              </a:lnSpc>
              <a:buNone/>
            </a:pPr>
            <a:r>
              <a:rPr lang="en-US" sz="950" dirty="0">
                <a:solidFill>
                  <a:srgbClr val="000000"/>
                </a:solidFill>
                <a:latin typeface="Open Sans" pitchFamily="34" charset="0"/>
                <a:ea typeface="Open Sans" pitchFamily="34" charset="-122"/>
                <a:cs typeface="Open Sans" pitchFamily="34" charset="-120"/>
              </a:rPr>
              <a:t> throughout the entire pipeline:</a:t>
            </a:r>
            <a:endParaRPr lang="en-US" sz="950" dirty="0"/>
          </a:p>
        </p:txBody>
      </p:sp>
      <p:sp>
        <p:nvSpPr>
          <p:cNvPr id="14" name="Text 11"/>
          <p:cNvSpPr/>
          <p:nvPr/>
        </p:nvSpPr>
        <p:spPr>
          <a:xfrm>
            <a:off x="4759821" y="2866058"/>
            <a:ext cx="3858667" cy="901526"/>
          </a:xfrm>
          <a:prstGeom prst="rect">
            <a:avLst/>
          </a:prstGeom>
          <a:noFill/>
          <a:ln/>
        </p:spPr>
        <p:txBody>
          <a:bodyPr wrap="square" lIns="0" tIns="0" rIns="0" bIns="0" rtlCol="0" anchor="t">
            <a:normAutofit/>
          </a:bodyPr>
          <a:lstStyle/>
          <a:p>
            <a:pPr algn="l" marL="193040" indent="-193040">
              <a:lnSpc>
                <a:spcPct val="132000"/>
              </a:lnSpc>
              <a:buSzPct val="100000"/>
              <a:buChar char="•"/>
            </a:pPr>
            <a:r>
              <a:rPr lang="en-US" sz="950" dirty="0">
                <a:solidFill>
                  <a:srgbClr val="000000"/>
                </a:solidFill>
                <a:latin typeface="Open Sans" pitchFamily="34" charset="0"/>
                <a:ea typeface="Open Sans" pitchFamily="34" charset="-122"/>
                <a:cs typeface="Open Sans" pitchFamily="34" charset="-120"/>
              </a:rPr>
              <a:t>Original </a:t>
            </a:r>
            <a:pPr algn="l" marL="193040" indent="-193040">
              <a:lnSpc>
                <a:spcPct val="132000"/>
              </a:lnSpc>
              <a:buSzPct val="100000"/>
              <a:buChar char="•"/>
            </a:pPr>
            <a:r>
              <a:rPr lang="en-US" sz="950" b="1" dirty="0">
                <a:solidFill>
                  <a:srgbClr val="000000"/>
                </a:solidFill>
                <a:latin typeface="Open Sans Bold" pitchFamily="34" charset="0"/>
                <a:ea typeface="Open Sans Bold" pitchFamily="34" charset="-122"/>
                <a:cs typeface="Open Sans Bold" pitchFamily="34" charset="-120"/>
              </a:rPr>
              <a:t>scale</a:t>
            </a:r>
            <a:pPr algn="l" marL="193040" indent="-193040">
              <a:lnSpc>
                <a:spcPct val="132000"/>
              </a:lnSpc>
              <a:buSzPct val="100000"/>
              <a:buChar char="•"/>
            </a:pPr>
            <a:r>
              <a:rPr lang="en-US" sz="950" dirty="0">
                <a:solidFill>
                  <a:srgbClr val="000000"/>
                </a:solidFill>
                <a:latin typeface="Open Sans" pitchFamily="34" charset="0"/>
                <a:ea typeface="Open Sans" pitchFamily="34" charset="-122"/>
                <a:cs typeface="Open Sans" pitchFamily="34" charset="-120"/>
              </a:rPr>
              <a:t> parameters retained exactly</a:t>
            </a:r>
            <a:endParaRPr lang="en-US" sz="950" dirty="0"/>
          </a:p>
          <a:p>
            <a:pPr algn="l" marL="193040" indent="-193040">
              <a:lnSpc>
                <a:spcPct val="132000"/>
              </a:lnSpc>
              <a:buSzPct val="100000"/>
              <a:buChar char="•"/>
            </a:pPr>
            <a:r>
              <a:rPr lang="en-US" sz="950" dirty="0">
                <a:solidFill>
                  <a:srgbClr val="000000"/>
                </a:solidFill>
                <a:latin typeface="Open Sans" pitchFamily="34" charset="0"/>
                <a:ea typeface="Open Sans" pitchFamily="34" charset="-122"/>
                <a:cs typeface="Open Sans" pitchFamily="34" charset="-120"/>
              </a:rPr>
              <a:t>Original </a:t>
            </a:r>
            <a:pPr algn="l" marL="193040" indent="-193040">
              <a:lnSpc>
                <a:spcPct val="132000"/>
              </a:lnSpc>
              <a:buSzPct val="100000"/>
              <a:buChar char="•"/>
            </a:pPr>
            <a:r>
              <a:rPr lang="en-US" sz="950" b="1" dirty="0">
                <a:solidFill>
                  <a:srgbClr val="000000"/>
                </a:solidFill>
                <a:latin typeface="Open Sans Bold" pitchFamily="34" charset="0"/>
                <a:ea typeface="Open Sans Bold" pitchFamily="34" charset="-122"/>
                <a:cs typeface="Open Sans Bold" pitchFamily="34" charset="-120"/>
              </a:rPr>
              <a:t>quaternion rotation</a:t>
            </a:r>
            <a:pPr algn="l" marL="193040" indent="-193040">
              <a:lnSpc>
                <a:spcPct val="132000"/>
              </a:lnSpc>
              <a:buSzPct val="100000"/>
              <a:buChar char="•"/>
            </a:pPr>
            <a:r>
              <a:rPr lang="en-US" sz="950" dirty="0">
                <a:solidFill>
                  <a:srgbClr val="000000"/>
                </a:solidFill>
                <a:latin typeface="Open Sans" pitchFamily="34" charset="0"/>
                <a:ea typeface="Open Sans" pitchFamily="34" charset="-122"/>
                <a:cs typeface="Open Sans" pitchFamily="34" charset="-120"/>
              </a:rPr>
              <a:t> preserved</a:t>
            </a:r>
            <a:endParaRPr lang="en-US" sz="950" dirty="0"/>
          </a:p>
          <a:p>
            <a:pPr algn="l" marL="193040" indent="-193040">
              <a:lnSpc>
                <a:spcPct val="132000"/>
              </a:lnSpc>
              <a:buSzPct val="100000"/>
              <a:buChar char="•"/>
            </a:pPr>
            <a:r>
              <a:rPr lang="en-US" sz="950" dirty="0">
                <a:solidFill>
                  <a:srgbClr val="000000"/>
                </a:solidFill>
                <a:latin typeface="Open Sans" pitchFamily="34" charset="0"/>
                <a:ea typeface="Open Sans" pitchFamily="34" charset="-122"/>
                <a:cs typeface="Open Sans" pitchFamily="34" charset="-120"/>
              </a:rPr>
              <a:t>Original </a:t>
            </a:r>
            <a:pPr algn="l" marL="193040" indent="-193040">
              <a:lnSpc>
                <a:spcPct val="132000"/>
              </a:lnSpc>
              <a:buSzPct val="100000"/>
              <a:buChar char="•"/>
            </a:pPr>
            <a:r>
              <a:rPr lang="en-US" sz="950" b="1" dirty="0">
                <a:solidFill>
                  <a:srgbClr val="000000"/>
                </a:solidFill>
                <a:latin typeface="Open Sans Bold" pitchFamily="34" charset="0"/>
                <a:ea typeface="Open Sans Bold" pitchFamily="34" charset="-122"/>
                <a:cs typeface="Open Sans Bold" pitchFamily="34" charset="-120"/>
              </a:rPr>
              <a:t>opacity</a:t>
            </a:r>
            <a:pPr algn="l" marL="193040" indent="-193040">
              <a:lnSpc>
                <a:spcPct val="132000"/>
              </a:lnSpc>
              <a:buSzPct val="100000"/>
              <a:buChar char="•"/>
            </a:pPr>
            <a:r>
              <a:rPr lang="en-US" sz="950" dirty="0">
                <a:solidFill>
                  <a:srgbClr val="000000"/>
                </a:solidFill>
                <a:latin typeface="Open Sans" pitchFamily="34" charset="0"/>
                <a:ea typeface="Open Sans" pitchFamily="34" charset="-122"/>
                <a:cs typeface="Open Sans" pitchFamily="34" charset="-120"/>
              </a:rPr>
              <a:t> values maintained</a:t>
            </a:r>
            <a:endParaRPr lang="en-US" sz="950" dirty="0"/>
          </a:p>
          <a:p>
            <a:pPr algn="l" marL="193040" indent="-193040">
              <a:lnSpc>
                <a:spcPct val="132000"/>
              </a:lnSpc>
              <a:buSzPct val="100000"/>
              <a:buChar char="•"/>
            </a:pPr>
            <a:r>
              <a:rPr lang="en-US" sz="950" dirty="0">
                <a:solidFill>
                  <a:srgbClr val="000000"/>
                </a:solidFill>
                <a:latin typeface="Open Sans" pitchFamily="34" charset="0"/>
                <a:ea typeface="Open Sans" pitchFamily="34" charset="-122"/>
                <a:cs typeface="Open Sans" pitchFamily="34" charset="-120"/>
              </a:rPr>
              <a:t>Full </a:t>
            </a:r>
            <a:pPr algn="l" marL="193040" indent="-193040">
              <a:lnSpc>
                <a:spcPct val="132000"/>
              </a:lnSpc>
              <a:buSzPct val="100000"/>
              <a:buChar char="•"/>
            </a:pPr>
            <a:r>
              <a:rPr lang="en-US" sz="950" b="1" dirty="0">
                <a:solidFill>
                  <a:srgbClr val="000000"/>
                </a:solidFill>
                <a:latin typeface="Open Sans Bold" pitchFamily="34" charset="0"/>
                <a:ea typeface="Open Sans Bold" pitchFamily="34" charset="-122"/>
                <a:cs typeface="Open Sans Bold" pitchFamily="34" charset="-120"/>
              </a:rPr>
              <a:t>Spherical Harmonic coefficients</a:t>
            </a:r>
            <a:pPr algn="l" marL="193040" indent="-193040">
              <a:lnSpc>
                <a:spcPct val="132000"/>
              </a:lnSpc>
              <a:buSzPct val="100000"/>
              <a:buChar char="•"/>
            </a:pPr>
            <a:r>
              <a:rPr lang="en-US" sz="950" dirty="0">
                <a:solidFill>
                  <a:srgbClr val="000000"/>
                </a:solidFill>
                <a:latin typeface="Open Sans" pitchFamily="34" charset="0"/>
                <a:ea typeface="Open Sans" pitchFamily="34" charset="-122"/>
                <a:cs typeface="Open Sans" pitchFamily="34" charset="-120"/>
              </a:rPr>
              <a:t> kept intact</a:t>
            </a:r>
            <a:endParaRPr lang="en-US" sz="950" dirty="0"/>
          </a:p>
        </p:txBody>
      </p:sp>
      <p:sp>
        <p:nvSpPr>
          <p:cNvPr id="15" name="Text 12"/>
          <p:cNvSpPr/>
          <p:nvPr/>
        </p:nvSpPr>
        <p:spPr>
          <a:xfrm>
            <a:off x="4759821" y="3875708"/>
            <a:ext cx="3858667" cy="775395"/>
          </a:xfrm>
          <a:prstGeom prst="rect">
            <a:avLst/>
          </a:prstGeom>
          <a:noFill/>
          <a:ln/>
        </p:spPr>
        <p:txBody>
          <a:bodyPr wrap="square" lIns="0" tIns="0" rIns="0" bIns="0" rtlCol="0" anchor="t">
            <a:normAutofit/>
          </a:bodyPr>
          <a:lstStyle/>
          <a:p>
            <a:pPr algn="l" indent="0" marL="0">
              <a:lnSpc>
                <a:spcPct val="132000"/>
              </a:lnSpc>
              <a:buNone/>
            </a:pPr>
            <a:r>
              <a:rPr lang="en-US" sz="950" dirty="0">
                <a:solidFill>
                  <a:srgbClr val="000000"/>
                </a:solidFill>
                <a:latin typeface="Open Sans" pitchFamily="34" charset="0"/>
                <a:ea typeface="Open Sans" pitchFamily="34" charset="-122"/>
                <a:cs typeface="Open Sans" pitchFamily="34" charset="-120"/>
              </a:rPr>
              <a:t>Only a temporary visualization copy is created for rendering. All editing operations are </a:t>
            </a:r>
            <a:pPr algn="l" indent="0" marL="0">
              <a:lnSpc>
                <a:spcPct val="132000"/>
              </a:lnSpc>
              <a:buNone/>
            </a:pPr>
            <a:r>
              <a:rPr lang="en-US" sz="950" b="1" dirty="0">
                <a:solidFill>
                  <a:srgbClr val="000000"/>
                </a:solidFill>
                <a:latin typeface="Open Sans Bold" pitchFamily="34" charset="0"/>
                <a:ea typeface="Open Sans Bold" pitchFamily="34" charset="-122"/>
                <a:cs typeface="Open Sans Bold" pitchFamily="34" charset="-120"/>
              </a:rPr>
              <a:t>non-destructive</a:t>
            </a:r>
            <a:pPr algn="l" indent="0" marL="0">
              <a:lnSpc>
                <a:spcPct val="132000"/>
              </a:lnSpc>
              <a:buNone/>
            </a:pPr>
            <a:r>
              <a:rPr lang="en-US" sz="950" dirty="0">
                <a:solidFill>
                  <a:srgbClr val="000000"/>
                </a:solidFill>
                <a:latin typeface="Open Sans" pitchFamily="34" charset="0"/>
                <a:ea typeface="Open Sans" pitchFamily="34" charset="-122"/>
                <a:cs typeface="Open Sans" pitchFamily="34" charset="-120"/>
              </a:rPr>
              <a:t> — transformation state is tracked separately from the underlying Gaussian data. This completely eliminated quality degradation in exported scenes.</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96119" y="390079"/>
            <a:ext cx="463972" cy="195263"/>
          </a:xfrm>
          <a:prstGeom prst="roundRect">
            <a:avLst>
              <a:gd name="adj" fmla="val 18677"/>
            </a:avLst>
          </a:prstGeom>
          <a:solidFill>
            <a:srgbClr val="FCE2CF"/>
          </a:solidFill>
          <a:ln/>
        </p:spPr>
      </p:sp>
      <p:sp>
        <p:nvSpPr>
          <p:cNvPr id="3" name="Text 1"/>
          <p:cNvSpPr/>
          <p:nvPr/>
        </p:nvSpPr>
        <p:spPr>
          <a:xfrm>
            <a:off x="561231" y="422597"/>
            <a:ext cx="790947" cy="130225"/>
          </a:xfrm>
          <a:prstGeom prst="rect">
            <a:avLst/>
          </a:prstGeom>
          <a:noFill/>
          <a:ln/>
        </p:spPr>
        <p:txBody>
          <a:bodyPr wrap="none" lIns="0" tIns="0" rIns="0" bIns="0" rtlCol="0" anchor="t"/>
          <a:lstStyle/>
          <a:p>
            <a:pPr algn="l" indent="0" marL="0">
              <a:lnSpc>
                <a:spcPct val="125000"/>
              </a:lnSpc>
              <a:buNone/>
            </a:pPr>
            <a:r>
              <a:rPr lang="en-US" sz="650" dirty="0">
                <a:solidFill>
                  <a:srgbClr val="2B2E3C"/>
                </a:solidFill>
                <a:latin typeface="Open Sans" pitchFamily="34" charset="0"/>
                <a:ea typeface="Open Sans" pitchFamily="34" charset="-122"/>
                <a:cs typeface="Open Sans" pitchFamily="34" charset="-120"/>
              </a:rPr>
              <a:t>STAGE 7</a:t>
            </a:r>
            <a:endParaRPr lang="en-US" sz="650" dirty="0"/>
          </a:p>
        </p:txBody>
      </p:sp>
      <p:sp>
        <p:nvSpPr>
          <p:cNvPr id="4" name="Shape 2"/>
          <p:cNvSpPr/>
          <p:nvPr/>
        </p:nvSpPr>
        <p:spPr>
          <a:xfrm>
            <a:off x="1014338" y="390079"/>
            <a:ext cx="463972" cy="195263"/>
          </a:xfrm>
          <a:prstGeom prst="roundRect">
            <a:avLst>
              <a:gd name="adj" fmla="val 18677"/>
            </a:avLst>
          </a:prstGeom>
          <a:solidFill>
            <a:srgbClr val="FCE2CF"/>
          </a:solidFill>
          <a:ln/>
        </p:spPr>
      </p:sp>
      <p:sp>
        <p:nvSpPr>
          <p:cNvPr id="5" name="Text 3"/>
          <p:cNvSpPr/>
          <p:nvPr/>
        </p:nvSpPr>
        <p:spPr>
          <a:xfrm>
            <a:off x="1079450" y="422597"/>
            <a:ext cx="790947" cy="130225"/>
          </a:xfrm>
          <a:prstGeom prst="rect">
            <a:avLst/>
          </a:prstGeom>
          <a:noFill/>
          <a:ln/>
        </p:spPr>
        <p:txBody>
          <a:bodyPr wrap="none" lIns="0" tIns="0" rIns="0" bIns="0" rtlCol="0" anchor="t"/>
          <a:lstStyle/>
          <a:p>
            <a:pPr algn="l" indent="0" marL="0">
              <a:lnSpc>
                <a:spcPct val="125000"/>
              </a:lnSpc>
              <a:buNone/>
            </a:pPr>
            <a:r>
              <a:rPr lang="en-US" sz="650" dirty="0">
                <a:solidFill>
                  <a:srgbClr val="2B2E3C"/>
                </a:solidFill>
                <a:latin typeface="Open Sans" pitchFamily="34" charset="0"/>
                <a:ea typeface="Open Sans" pitchFamily="34" charset="-122"/>
                <a:cs typeface="Open Sans" pitchFamily="34" charset="-120"/>
              </a:rPr>
              <a:t>STAGE 8</a:t>
            </a:r>
            <a:endParaRPr lang="en-US" sz="650" dirty="0"/>
          </a:p>
        </p:txBody>
      </p:sp>
      <p:sp>
        <p:nvSpPr>
          <p:cNvPr id="6" name="Text 4"/>
          <p:cNvSpPr/>
          <p:nvPr/>
        </p:nvSpPr>
        <p:spPr>
          <a:xfrm>
            <a:off x="496119" y="623292"/>
            <a:ext cx="8151763" cy="339179"/>
          </a:xfrm>
          <a:prstGeom prst="rect">
            <a:avLst/>
          </a:prstGeom>
          <a:noFill/>
          <a:ln/>
        </p:spPr>
        <p:txBody>
          <a:bodyPr wrap="none" lIns="0" tIns="0" rIns="0" bIns="0" rtlCol="0" anchor="t"/>
          <a:lstStyle/>
          <a:p>
            <a:pPr algn="l" indent="0" marL="0">
              <a:lnSpc>
                <a:spcPct val="104000"/>
              </a:lnSpc>
              <a:buNone/>
            </a:pPr>
            <a:r>
              <a:rPr lang="en-US" sz="2100" dirty="0">
                <a:solidFill>
                  <a:srgbClr val="2C3F42"/>
                </a:solidFill>
                <a:latin typeface="Bitter Medium" pitchFamily="34" charset="0"/>
                <a:ea typeface="Bitter Medium" pitchFamily="34" charset="-122"/>
                <a:cs typeface="Bitter Medium" pitchFamily="34" charset="-120"/>
              </a:rPr>
              <a:t>Gaussian Visualization &amp; Interactive Editing</a:t>
            </a:r>
            <a:endParaRPr lang="en-US" sz="2100" dirty="0"/>
          </a:p>
        </p:txBody>
      </p:sp>
      <p:sp>
        <p:nvSpPr>
          <p:cNvPr id="7" name="Text 5"/>
          <p:cNvSpPr/>
          <p:nvPr/>
        </p:nvSpPr>
        <p:spPr>
          <a:xfrm>
            <a:off x="496119" y="1199852"/>
            <a:ext cx="3943499" cy="169515"/>
          </a:xfrm>
          <a:prstGeom prst="rect">
            <a:avLst/>
          </a:prstGeom>
          <a:noFill/>
          <a:ln/>
        </p:spPr>
        <p:txBody>
          <a:bodyPr wrap="none" lIns="0" tIns="0" rIns="0" bIns="0" rtlCol="0" anchor="t"/>
          <a:lstStyle/>
          <a:p>
            <a:pPr algn="l" indent="0" marL="0">
              <a:lnSpc>
                <a:spcPct val="104000"/>
              </a:lnSpc>
              <a:buNone/>
            </a:pPr>
            <a:r>
              <a:rPr lang="en-US" sz="1050" dirty="0">
                <a:solidFill>
                  <a:srgbClr val="2C3F42"/>
                </a:solidFill>
                <a:latin typeface="Bitter Medium" pitchFamily="34" charset="0"/>
                <a:ea typeface="Bitter Medium" pitchFamily="34" charset="-122"/>
                <a:cs typeface="Bitter Medium" pitchFamily="34" charset="-120"/>
              </a:rPr>
              <a:t>Stage 7 — True Gaussian Rendering</a:t>
            </a:r>
            <a:endParaRPr lang="en-US" sz="1050" dirty="0"/>
          </a:p>
        </p:txBody>
      </p:sp>
      <p:sp>
        <p:nvSpPr>
          <p:cNvPr id="8" name="Text 6"/>
          <p:cNvSpPr/>
          <p:nvPr/>
        </p:nvSpPr>
        <p:spPr>
          <a:xfrm>
            <a:off x="496119" y="1464320"/>
            <a:ext cx="3943499" cy="814090"/>
          </a:xfrm>
          <a:prstGeom prst="rect">
            <a:avLst/>
          </a:prstGeom>
          <a:noFill/>
          <a:ln/>
        </p:spPr>
        <p:txBody>
          <a:bodyPr wrap="square" lIns="0" tIns="0" rIns="0" bIns="0" rtlCol="0" anchor="t">
            <a:normAutofit/>
          </a:bodyPr>
          <a:lstStyle/>
          <a:p>
            <a:pPr algn="l" indent="0" marL="0">
              <a:lnSpc>
                <a:spcPct val="125000"/>
              </a:lnSpc>
              <a:buNone/>
            </a:pPr>
            <a:r>
              <a:rPr lang="en-US" sz="850" dirty="0">
                <a:solidFill>
                  <a:srgbClr val="2B2E3C"/>
                </a:solidFill>
                <a:latin typeface="Open Sans" pitchFamily="34" charset="0"/>
                <a:ea typeface="Open Sans" pitchFamily="34" charset="-122"/>
                <a:cs typeface="Open Sans" pitchFamily="34" charset="-120"/>
              </a:rPr>
              <a:t>Early visualization attempts using Gaussian means, ellipsoid meshes, and density-sampled point clouds all proved inadequate — they failed to capture the screen-space appearance of true Gaussian splats. The final solution integrates a </a:t>
            </a:r>
            <a:pPr algn="l" indent="0" marL="0">
              <a:lnSpc>
                <a:spcPct val="125000"/>
              </a:lnSpc>
              <a:buNone/>
            </a:pPr>
            <a:r>
              <a:rPr lang="en-US" sz="850" b="1" dirty="0">
                <a:solidFill>
                  <a:srgbClr val="2B2E3C"/>
                </a:solidFill>
                <a:latin typeface="Open Sans Bold" pitchFamily="34" charset="0"/>
                <a:ea typeface="Open Sans Bold" pitchFamily="34" charset="-122"/>
                <a:cs typeface="Open Sans Bold" pitchFamily="34" charset="-120"/>
              </a:rPr>
              <a:t>full GPU-based Gaussian renderer</a:t>
            </a:r>
            <a:pPr algn="l" indent="0" marL="0">
              <a:lnSpc>
                <a:spcPct val="125000"/>
              </a:lnSpc>
              <a:buNone/>
            </a:pPr>
            <a:r>
              <a:rPr lang="en-US" sz="850" dirty="0">
                <a:solidFill>
                  <a:srgbClr val="2B2E3C"/>
                </a:solidFill>
                <a:latin typeface="Open Sans" pitchFamily="34" charset="0"/>
                <a:ea typeface="Open Sans" pitchFamily="34" charset="-122"/>
                <a:cs typeface="Open Sans" pitchFamily="34" charset="-120"/>
              </a:rPr>
              <a:t> using ModernGL with custom vertex and fragment shaders.</a:t>
            </a:r>
            <a:endParaRPr lang="en-US" sz="850" dirty="0"/>
          </a:p>
        </p:txBody>
      </p:sp>
      <p:sp>
        <p:nvSpPr>
          <p:cNvPr id="9" name="Shape 7"/>
          <p:cNvSpPr/>
          <p:nvPr/>
        </p:nvSpPr>
        <p:spPr>
          <a:xfrm>
            <a:off x="496119" y="2385194"/>
            <a:ext cx="1924273" cy="1330821"/>
          </a:xfrm>
          <a:prstGeom prst="roundRect">
            <a:avLst>
              <a:gd name="adj" fmla="val 3425"/>
            </a:avLst>
          </a:prstGeom>
          <a:solidFill>
            <a:srgbClr val="FFF8F0"/>
          </a:solidFill>
          <a:ln w="14288">
            <a:solidFill>
              <a:srgbClr val="E2C8B5"/>
            </a:solidFill>
            <a:prstDash val="solid"/>
          </a:ln>
        </p:spPr>
      </p:sp>
      <p:sp>
        <p:nvSpPr>
          <p:cNvPr id="10" name="Text 8"/>
          <p:cNvSpPr/>
          <p:nvPr/>
        </p:nvSpPr>
        <p:spPr>
          <a:xfrm>
            <a:off x="618902" y="2507977"/>
            <a:ext cx="1678707" cy="339030"/>
          </a:xfrm>
          <a:prstGeom prst="rect">
            <a:avLst/>
          </a:prstGeom>
          <a:noFill/>
          <a:ln/>
        </p:spPr>
        <p:txBody>
          <a:bodyPr wrap="square" lIns="0" tIns="0" rIns="0" bIns="0" rtlCol="0" anchor="t">
            <a:normAutofit/>
          </a:bodyPr>
          <a:lstStyle/>
          <a:p>
            <a:pPr algn="l" indent="0" marL="0">
              <a:lnSpc>
                <a:spcPct val="104000"/>
              </a:lnSpc>
              <a:buNone/>
            </a:pPr>
            <a:r>
              <a:rPr lang="en-US" sz="1050" dirty="0">
                <a:solidFill>
                  <a:srgbClr val="2B2E3C"/>
                </a:solidFill>
                <a:latin typeface="Bitter Medium" pitchFamily="34" charset="0"/>
                <a:ea typeface="Bitter Medium" pitchFamily="34" charset="-122"/>
                <a:cs typeface="Bitter Medium" pitchFamily="34" charset="-120"/>
              </a:rPr>
              <a:t>Screen-Space Covariance Projection</a:t>
            </a:r>
            <a:endParaRPr lang="en-US" sz="1050" dirty="0"/>
          </a:p>
        </p:txBody>
      </p:sp>
      <p:sp>
        <p:nvSpPr>
          <p:cNvPr id="11" name="Text 9"/>
          <p:cNvSpPr/>
          <p:nvPr/>
        </p:nvSpPr>
        <p:spPr>
          <a:xfrm>
            <a:off x="618902" y="2941960"/>
            <a:ext cx="1678707" cy="651272"/>
          </a:xfrm>
          <a:prstGeom prst="rect">
            <a:avLst/>
          </a:prstGeom>
          <a:noFill/>
          <a:ln/>
        </p:spPr>
        <p:txBody>
          <a:bodyPr wrap="square" lIns="0" tIns="0" rIns="0" bIns="0" rtlCol="0" anchor="t">
            <a:normAutofit/>
          </a:bodyPr>
          <a:lstStyle/>
          <a:p>
            <a:pPr algn="l" indent="0" marL="0">
              <a:lnSpc>
                <a:spcPct val="125000"/>
              </a:lnSpc>
              <a:buNone/>
            </a:pPr>
            <a:r>
              <a:rPr lang="en-US" sz="850" dirty="0">
                <a:solidFill>
                  <a:srgbClr val="2B2E3C"/>
                </a:solidFill>
                <a:latin typeface="Open Sans" pitchFamily="34" charset="0"/>
                <a:ea typeface="Open Sans" pitchFamily="34" charset="-122"/>
                <a:cs typeface="Open Sans" pitchFamily="34" charset="-120"/>
              </a:rPr>
              <a:t>Each Gaussian's 3D covariance is projected into screen space for correct elliptical footprint computation</a:t>
            </a:r>
            <a:endParaRPr lang="en-US" sz="850" dirty="0"/>
          </a:p>
        </p:txBody>
      </p:sp>
      <p:sp>
        <p:nvSpPr>
          <p:cNvPr id="12" name="Shape 10"/>
          <p:cNvSpPr/>
          <p:nvPr/>
        </p:nvSpPr>
        <p:spPr>
          <a:xfrm>
            <a:off x="2515344" y="2385194"/>
            <a:ext cx="1924273" cy="1330821"/>
          </a:xfrm>
          <a:prstGeom prst="roundRect">
            <a:avLst>
              <a:gd name="adj" fmla="val 3425"/>
            </a:avLst>
          </a:prstGeom>
          <a:solidFill>
            <a:srgbClr val="FFF8F0"/>
          </a:solidFill>
          <a:ln w="14288">
            <a:solidFill>
              <a:srgbClr val="E2C8B5"/>
            </a:solidFill>
            <a:prstDash val="solid"/>
          </a:ln>
        </p:spPr>
      </p:sp>
      <p:sp>
        <p:nvSpPr>
          <p:cNvPr id="13" name="Text 11"/>
          <p:cNvSpPr/>
          <p:nvPr/>
        </p:nvSpPr>
        <p:spPr>
          <a:xfrm>
            <a:off x="2638127" y="2507977"/>
            <a:ext cx="1678707" cy="169515"/>
          </a:xfrm>
          <a:prstGeom prst="rect">
            <a:avLst/>
          </a:prstGeom>
          <a:noFill/>
          <a:ln/>
        </p:spPr>
        <p:txBody>
          <a:bodyPr wrap="none" lIns="0" tIns="0" rIns="0" bIns="0" rtlCol="0" anchor="t"/>
          <a:lstStyle/>
          <a:p>
            <a:pPr algn="l" indent="0" marL="0">
              <a:lnSpc>
                <a:spcPct val="104000"/>
              </a:lnSpc>
              <a:buNone/>
            </a:pPr>
            <a:r>
              <a:rPr lang="en-US" sz="1050" dirty="0">
                <a:solidFill>
                  <a:srgbClr val="2B2E3C"/>
                </a:solidFill>
                <a:latin typeface="Bitter Medium" pitchFamily="34" charset="0"/>
                <a:ea typeface="Bitter Medium" pitchFamily="34" charset="-122"/>
                <a:cs typeface="Bitter Medium" pitchFamily="34" charset="-120"/>
              </a:rPr>
              <a:t>EWA Rasterization</a:t>
            </a:r>
            <a:endParaRPr lang="en-US" sz="1050" dirty="0"/>
          </a:p>
        </p:txBody>
      </p:sp>
      <p:sp>
        <p:nvSpPr>
          <p:cNvPr id="14" name="Text 12"/>
          <p:cNvSpPr/>
          <p:nvPr/>
        </p:nvSpPr>
        <p:spPr>
          <a:xfrm>
            <a:off x="2638127" y="2772445"/>
            <a:ext cx="1678707" cy="488454"/>
          </a:xfrm>
          <a:prstGeom prst="rect">
            <a:avLst/>
          </a:prstGeom>
          <a:noFill/>
          <a:ln/>
        </p:spPr>
        <p:txBody>
          <a:bodyPr wrap="square" lIns="0" tIns="0" rIns="0" bIns="0" rtlCol="0" anchor="t">
            <a:normAutofit/>
          </a:bodyPr>
          <a:lstStyle/>
          <a:p>
            <a:pPr algn="l" indent="0" marL="0">
              <a:lnSpc>
                <a:spcPct val="125000"/>
              </a:lnSpc>
              <a:buNone/>
            </a:pPr>
            <a:r>
              <a:rPr lang="en-US" sz="850" dirty="0">
                <a:solidFill>
                  <a:srgbClr val="2B2E3C"/>
                </a:solidFill>
                <a:latin typeface="Open Sans" pitchFamily="34" charset="0"/>
                <a:ea typeface="Open Sans" pitchFamily="34" charset="-122"/>
                <a:cs typeface="Open Sans" pitchFamily="34" charset="-120"/>
              </a:rPr>
              <a:t>Elliptical Weighted Average splatting produces artifact-free, high-quality Gaussian rendering</a:t>
            </a:r>
            <a:endParaRPr lang="en-US" sz="850" dirty="0"/>
          </a:p>
        </p:txBody>
      </p:sp>
      <p:sp>
        <p:nvSpPr>
          <p:cNvPr id="15" name="Shape 13"/>
          <p:cNvSpPr/>
          <p:nvPr/>
        </p:nvSpPr>
        <p:spPr>
          <a:xfrm>
            <a:off x="496119" y="3810967"/>
            <a:ext cx="3943499" cy="835670"/>
          </a:xfrm>
          <a:prstGeom prst="roundRect">
            <a:avLst>
              <a:gd name="adj" fmla="val 5455"/>
            </a:avLst>
          </a:prstGeom>
          <a:solidFill>
            <a:srgbClr val="FFF8F0"/>
          </a:solidFill>
          <a:ln w="14288">
            <a:solidFill>
              <a:srgbClr val="E2C8B5"/>
            </a:solidFill>
            <a:prstDash val="solid"/>
          </a:ln>
        </p:spPr>
      </p:sp>
      <p:sp>
        <p:nvSpPr>
          <p:cNvPr id="16" name="Text 14"/>
          <p:cNvSpPr/>
          <p:nvPr/>
        </p:nvSpPr>
        <p:spPr>
          <a:xfrm>
            <a:off x="618902" y="3933751"/>
            <a:ext cx="3697932" cy="169515"/>
          </a:xfrm>
          <a:prstGeom prst="rect">
            <a:avLst/>
          </a:prstGeom>
          <a:noFill/>
          <a:ln/>
        </p:spPr>
        <p:txBody>
          <a:bodyPr wrap="none" lIns="0" tIns="0" rIns="0" bIns="0" rtlCol="0" anchor="t"/>
          <a:lstStyle/>
          <a:p>
            <a:pPr algn="l" indent="0" marL="0">
              <a:lnSpc>
                <a:spcPct val="104000"/>
              </a:lnSpc>
              <a:buNone/>
            </a:pPr>
            <a:r>
              <a:rPr lang="en-US" sz="1050" dirty="0">
                <a:solidFill>
                  <a:srgbClr val="2B2E3C"/>
                </a:solidFill>
                <a:latin typeface="Bitter Medium" pitchFamily="34" charset="0"/>
                <a:ea typeface="Bitter Medium" pitchFamily="34" charset="-122"/>
                <a:cs typeface="Bitter Medium" pitchFamily="34" charset="-120"/>
              </a:rPr>
              <a:t>Blinn-Phong Lighting</a:t>
            </a:r>
            <a:endParaRPr lang="en-US" sz="1050" dirty="0"/>
          </a:p>
        </p:txBody>
      </p:sp>
      <p:sp>
        <p:nvSpPr>
          <p:cNvPr id="17" name="Text 15"/>
          <p:cNvSpPr/>
          <p:nvPr/>
        </p:nvSpPr>
        <p:spPr>
          <a:xfrm>
            <a:off x="618902" y="4198218"/>
            <a:ext cx="3697932" cy="325636"/>
          </a:xfrm>
          <a:prstGeom prst="rect">
            <a:avLst/>
          </a:prstGeom>
          <a:noFill/>
          <a:ln/>
        </p:spPr>
        <p:txBody>
          <a:bodyPr wrap="square" lIns="0" tIns="0" rIns="0" bIns="0" rtlCol="0" anchor="t">
            <a:normAutofit/>
          </a:bodyPr>
          <a:lstStyle/>
          <a:p>
            <a:pPr algn="l" indent="0" marL="0">
              <a:lnSpc>
                <a:spcPct val="125000"/>
              </a:lnSpc>
              <a:buNone/>
            </a:pPr>
            <a:r>
              <a:rPr lang="en-US" sz="850" dirty="0">
                <a:solidFill>
                  <a:srgbClr val="2B2E3C"/>
                </a:solidFill>
                <a:latin typeface="Open Sans" pitchFamily="34" charset="0"/>
                <a:ea typeface="Open Sans" pitchFamily="34" charset="-122"/>
                <a:cs typeface="Open Sans" pitchFamily="34" charset="-120"/>
              </a:rPr>
              <a:t>Diffuse shading, specular highlights, and rim lighting with interactive light controls</a:t>
            </a:r>
            <a:endParaRPr lang="en-US" sz="850" dirty="0"/>
          </a:p>
        </p:txBody>
      </p:sp>
      <p:sp>
        <p:nvSpPr>
          <p:cNvPr id="18" name="Text 16"/>
          <p:cNvSpPr/>
          <p:nvPr/>
        </p:nvSpPr>
        <p:spPr>
          <a:xfrm>
            <a:off x="4709145" y="1199852"/>
            <a:ext cx="3943499" cy="169515"/>
          </a:xfrm>
          <a:prstGeom prst="rect">
            <a:avLst/>
          </a:prstGeom>
          <a:noFill/>
          <a:ln/>
        </p:spPr>
        <p:txBody>
          <a:bodyPr wrap="none" lIns="0" tIns="0" rIns="0" bIns="0" rtlCol="0" anchor="t"/>
          <a:lstStyle/>
          <a:p>
            <a:pPr algn="l" indent="0" marL="0">
              <a:lnSpc>
                <a:spcPct val="104000"/>
              </a:lnSpc>
              <a:buNone/>
            </a:pPr>
            <a:r>
              <a:rPr lang="en-US" sz="1050" dirty="0">
                <a:solidFill>
                  <a:srgbClr val="2C3F42"/>
                </a:solidFill>
                <a:latin typeface="Bitter Medium" pitchFamily="34" charset="0"/>
                <a:ea typeface="Bitter Medium" pitchFamily="34" charset="-122"/>
                <a:cs typeface="Bitter Medium" pitchFamily="34" charset="-120"/>
              </a:rPr>
              <a:t>Stage 8 — Interactive Scene Editing</a:t>
            </a:r>
            <a:endParaRPr lang="en-US" sz="1050" dirty="0"/>
          </a:p>
        </p:txBody>
      </p:sp>
      <p:sp>
        <p:nvSpPr>
          <p:cNvPr id="19" name="Text 17"/>
          <p:cNvSpPr/>
          <p:nvPr/>
        </p:nvSpPr>
        <p:spPr>
          <a:xfrm>
            <a:off x="4709145" y="1464320"/>
            <a:ext cx="3943499" cy="1387971"/>
          </a:xfrm>
          <a:prstGeom prst="rect">
            <a:avLst/>
          </a:prstGeom>
          <a:noFill/>
          <a:ln/>
        </p:spPr>
        <p:txBody>
          <a:bodyPr wrap="square" lIns="0" tIns="0" rIns="0" bIns="0" rtlCol="0" anchor="t">
            <a:normAutofit/>
          </a:bodyPr>
          <a:lstStyle/>
          <a:p>
            <a:pPr algn="l" indent="0" marL="0">
              <a:lnSpc>
                <a:spcPct val="125000"/>
              </a:lnSpc>
              <a:buNone/>
            </a:pPr>
            <a:r>
              <a:rPr lang="en-US" sz="850" dirty="0">
                <a:solidFill>
                  <a:srgbClr val="2B2E3C"/>
                </a:solidFill>
                <a:latin typeface="Open Sans" pitchFamily="34" charset="0"/>
                <a:ea typeface="Open Sans" pitchFamily="34" charset="-122"/>
                <a:cs typeface="Open Sans" pitchFamily="34" charset="-120"/>
              </a:rPr>
              <a:t>With Gaussians correctly visualized, the user can manipulate the selected object in real time. The system supports </a:t>
            </a:r>
            <a:pPr algn="l" indent="0" marL="0">
              <a:lnSpc>
                <a:spcPct val="125000"/>
              </a:lnSpc>
              <a:buNone/>
            </a:pPr>
            <a:r>
              <a:rPr lang="en-US" sz="850" b="1" dirty="0">
                <a:solidFill>
                  <a:srgbClr val="2B2E3C"/>
                </a:solidFill>
                <a:latin typeface="Open Sans Bold" pitchFamily="34" charset="0"/>
                <a:ea typeface="Open Sans Bold" pitchFamily="34" charset="-122"/>
                <a:cs typeface="Open Sans Bold" pitchFamily="34" charset="-120"/>
              </a:rPr>
              <a:t>translation, rotation, and reset</a:t>
            </a:r>
            <a:pPr algn="l" indent="0" marL="0">
              <a:lnSpc>
                <a:spcPct val="125000"/>
              </a:lnSpc>
              <a:spcAft>
                <a:spcPts val="650"/>
              </a:spcAft>
              <a:buNone/>
            </a:pPr>
            <a:r>
              <a:rPr lang="en-US" sz="850" dirty="0">
                <a:solidFill>
                  <a:srgbClr val="2B2E3C"/>
                </a:solidFill>
                <a:latin typeface="Open Sans" pitchFamily="34" charset="0"/>
                <a:ea typeface="Open Sans" pitchFamily="34" charset="-122"/>
                <a:cs typeface="Open Sans" pitchFamily="34" charset="-120"/>
              </a:rPr>
              <a:t> operations, including multi-object editing for grouped selections.</a:t>
            </a:r>
            <a:endParaRPr lang="en-US" sz="850" dirty="0"/>
          </a:p>
          <a:p>
            <a:pPr algn="l" indent="0" marL="0">
              <a:lnSpc>
                <a:spcPct val="125000"/>
              </a:lnSpc>
              <a:buNone/>
            </a:pPr>
            <a:r>
              <a:rPr lang="en-US" sz="850" dirty="0">
                <a:solidFill>
                  <a:srgbClr val="2B2E3C"/>
                </a:solidFill>
                <a:latin typeface="Open Sans" pitchFamily="34" charset="0"/>
                <a:ea typeface="Open Sans" pitchFamily="34" charset="-122"/>
                <a:cs typeface="Open Sans" pitchFamily="34" charset="-120"/>
              </a:rPr>
              <a:t>Critically, </a:t>
            </a:r>
            <a:pPr algn="l" indent="0" marL="0">
              <a:lnSpc>
                <a:spcPct val="125000"/>
              </a:lnSpc>
              <a:buNone/>
            </a:pPr>
            <a:r>
              <a:rPr lang="en-US" sz="850" b="1" dirty="0">
                <a:solidFill>
                  <a:srgbClr val="2B2E3C"/>
                </a:solidFill>
                <a:latin typeface="Open Sans Bold" pitchFamily="34" charset="0"/>
                <a:ea typeface="Open Sans Bold" pitchFamily="34" charset="-122"/>
                <a:cs typeface="Open Sans Bold" pitchFamily="34" charset="-120"/>
              </a:rPr>
              <a:t>individual Gaussian parameters are never modified</a:t>
            </a:r>
            <a:pPr algn="l" indent="0" marL="0">
              <a:lnSpc>
                <a:spcPct val="125000"/>
              </a:lnSpc>
              <a:buNone/>
            </a:pPr>
            <a:r>
              <a:rPr lang="en-US" sz="850" dirty="0">
                <a:solidFill>
                  <a:srgbClr val="2B2E3C"/>
                </a:solidFill>
                <a:latin typeface="Open Sans" pitchFamily="34" charset="0"/>
                <a:ea typeface="Open Sans" pitchFamily="34" charset="-122"/>
                <a:cs typeface="Open Sans" pitchFamily="34" charset="-120"/>
              </a:rPr>
              <a:t> during interaction. Instead, only the </a:t>
            </a:r>
            <a:pPr algn="l" indent="0" marL="0">
              <a:lnSpc>
                <a:spcPct val="125000"/>
              </a:lnSpc>
              <a:buNone/>
            </a:pPr>
            <a:r>
              <a:rPr lang="en-US" sz="850" b="1" dirty="0">
                <a:solidFill>
                  <a:srgbClr val="2B2E3C"/>
                </a:solidFill>
                <a:latin typeface="Open Sans Bold" pitchFamily="34" charset="0"/>
                <a:ea typeface="Open Sans Bold" pitchFamily="34" charset="-122"/>
                <a:cs typeface="Open Sans Bold" pitchFamily="34" charset="-120"/>
              </a:rPr>
              <a:t>transformation state</a:t>
            </a:r>
            <a:pPr algn="l" indent="0" marL="0">
              <a:lnSpc>
                <a:spcPct val="125000"/>
              </a:lnSpc>
              <a:buNone/>
            </a:pPr>
            <a:r>
              <a:rPr lang="en-US" sz="850" dirty="0">
                <a:solidFill>
                  <a:srgbClr val="2B2E3C"/>
                </a:solidFill>
                <a:latin typeface="Open Sans" pitchFamily="34" charset="0"/>
                <a:ea typeface="Open Sans" pitchFamily="34" charset="-122"/>
                <a:cs typeface="Open Sans" pitchFamily="34" charset="-120"/>
              </a:rPr>
              <a:t> (object centroid, rotation matrix, and 4×4 transformation matrix) is updated. This state-based approach enables efficient real-time interaction at full frame rates, as the expensive Gaussian attribute data remains untouched until final export.</a:t>
            </a:r>
            <a:endParaRPr lang="en-US" sz="850" dirty="0"/>
          </a:p>
        </p:txBody>
      </p:sp>
      <p:sp>
        <p:nvSpPr>
          <p:cNvPr id="20" name="Shape 18"/>
          <p:cNvSpPr/>
          <p:nvPr/>
        </p:nvSpPr>
        <p:spPr>
          <a:xfrm>
            <a:off x="4709145" y="2959075"/>
            <a:ext cx="1924273" cy="816620"/>
          </a:xfrm>
          <a:prstGeom prst="roundRect">
            <a:avLst>
              <a:gd name="adj" fmla="val 5582"/>
            </a:avLst>
          </a:prstGeom>
          <a:solidFill>
            <a:srgbClr val="FCE2CF"/>
          </a:solidFill>
          <a:ln w="4763">
            <a:solidFill>
              <a:srgbClr val="E2C8B5"/>
            </a:solidFill>
            <a:prstDash val="solid"/>
          </a:ln>
        </p:spPr>
      </p:sp>
      <p:sp>
        <p:nvSpPr>
          <p:cNvPr id="21" name="Text 19"/>
          <p:cNvSpPr/>
          <p:nvPr/>
        </p:nvSpPr>
        <p:spPr>
          <a:xfrm>
            <a:off x="4822403" y="3072333"/>
            <a:ext cx="1697757" cy="169515"/>
          </a:xfrm>
          <a:prstGeom prst="rect">
            <a:avLst/>
          </a:prstGeom>
          <a:noFill/>
          <a:ln/>
        </p:spPr>
        <p:txBody>
          <a:bodyPr wrap="none" lIns="0" tIns="0" rIns="0" bIns="0" rtlCol="0" anchor="t"/>
          <a:lstStyle/>
          <a:p>
            <a:pPr algn="l" indent="0" marL="0">
              <a:lnSpc>
                <a:spcPct val="104000"/>
              </a:lnSpc>
              <a:buNone/>
            </a:pPr>
            <a:r>
              <a:rPr lang="en-US" sz="1050" dirty="0">
                <a:solidFill>
                  <a:srgbClr val="2B2E3C"/>
                </a:solidFill>
                <a:latin typeface="Bitter Medium" pitchFamily="34" charset="0"/>
                <a:ea typeface="Bitter Medium" pitchFamily="34" charset="-122"/>
                <a:cs typeface="Bitter Medium" pitchFamily="34" charset="-120"/>
              </a:rPr>
              <a:t>Translation</a:t>
            </a:r>
            <a:endParaRPr lang="en-US" sz="1050" dirty="0"/>
          </a:p>
        </p:txBody>
      </p:sp>
      <p:sp>
        <p:nvSpPr>
          <p:cNvPr id="22" name="Text 20"/>
          <p:cNvSpPr/>
          <p:nvPr/>
        </p:nvSpPr>
        <p:spPr>
          <a:xfrm>
            <a:off x="4822403" y="3336801"/>
            <a:ext cx="1697757" cy="325636"/>
          </a:xfrm>
          <a:prstGeom prst="rect">
            <a:avLst/>
          </a:prstGeom>
          <a:noFill/>
          <a:ln/>
        </p:spPr>
        <p:txBody>
          <a:bodyPr wrap="square" lIns="0" tIns="0" rIns="0" bIns="0" rtlCol="0" anchor="t">
            <a:normAutofit/>
          </a:bodyPr>
          <a:lstStyle/>
          <a:p>
            <a:pPr algn="l" indent="0" marL="0">
              <a:lnSpc>
                <a:spcPct val="125000"/>
              </a:lnSpc>
              <a:buNone/>
            </a:pPr>
            <a:r>
              <a:rPr lang="en-US" sz="850" dirty="0">
                <a:solidFill>
                  <a:srgbClr val="2B2E3C"/>
                </a:solidFill>
                <a:latin typeface="Open Sans" pitchFamily="34" charset="0"/>
                <a:ea typeface="Open Sans" pitchFamily="34" charset="-122"/>
                <a:cs typeface="Open Sans" pitchFamily="34" charset="-120"/>
              </a:rPr>
              <a:t>Free movement along all three axes</a:t>
            </a:r>
            <a:endParaRPr lang="en-US" sz="850" dirty="0"/>
          </a:p>
        </p:txBody>
      </p:sp>
      <p:sp>
        <p:nvSpPr>
          <p:cNvPr id="23" name="Shape 21"/>
          <p:cNvSpPr/>
          <p:nvPr/>
        </p:nvSpPr>
        <p:spPr>
          <a:xfrm>
            <a:off x="6728371" y="2959075"/>
            <a:ext cx="1924273" cy="816620"/>
          </a:xfrm>
          <a:prstGeom prst="roundRect">
            <a:avLst>
              <a:gd name="adj" fmla="val 5582"/>
            </a:avLst>
          </a:prstGeom>
          <a:solidFill>
            <a:srgbClr val="FCE2CF"/>
          </a:solidFill>
          <a:ln w="4763">
            <a:solidFill>
              <a:srgbClr val="E2C8B5"/>
            </a:solidFill>
            <a:prstDash val="solid"/>
          </a:ln>
        </p:spPr>
      </p:sp>
      <p:sp>
        <p:nvSpPr>
          <p:cNvPr id="24" name="Text 22"/>
          <p:cNvSpPr/>
          <p:nvPr/>
        </p:nvSpPr>
        <p:spPr>
          <a:xfrm>
            <a:off x="6841629" y="3072333"/>
            <a:ext cx="1697757" cy="169515"/>
          </a:xfrm>
          <a:prstGeom prst="rect">
            <a:avLst/>
          </a:prstGeom>
          <a:noFill/>
          <a:ln/>
        </p:spPr>
        <p:txBody>
          <a:bodyPr wrap="none" lIns="0" tIns="0" rIns="0" bIns="0" rtlCol="0" anchor="t"/>
          <a:lstStyle/>
          <a:p>
            <a:pPr algn="l" indent="0" marL="0">
              <a:lnSpc>
                <a:spcPct val="104000"/>
              </a:lnSpc>
              <a:buNone/>
            </a:pPr>
            <a:r>
              <a:rPr lang="en-US" sz="1050" dirty="0">
                <a:solidFill>
                  <a:srgbClr val="2B2E3C"/>
                </a:solidFill>
                <a:latin typeface="Bitter Medium" pitchFamily="34" charset="0"/>
                <a:ea typeface="Bitter Medium" pitchFamily="34" charset="-122"/>
                <a:cs typeface="Bitter Medium" pitchFamily="34" charset="-120"/>
              </a:rPr>
              <a:t>Rotation</a:t>
            </a:r>
            <a:endParaRPr lang="en-US" sz="1050" dirty="0"/>
          </a:p>
        </p:txBody>
      </p:sp>
      <p:sp>
        <p:nvSpPr>
          <p:cNvPr id="25" name="Text 23"/>
          <p:cNvSpPr/>
          <p:nvPr/>
        </p:nvSpPr>
        <p:spPr>
          <a:xfrm>
            <a:off x="6841629" y="3336801"/>
            <a:ext cx="1697757" cy="325636"/>
          </a:xfrm>
          <a:prstGeom prst="rect">
            <a:avLst/>
          </a:prstGeom>
          <a:noFill/>
          <a:ln/>
        </p:spPr>
        <p:txBody>
          <a:bodyPr wrap="square" lIns="0" tIns="0" rIns="0" bIns="0" rtlCol="0" anchor="t">
            <a:normAutofit/>
          </a:bodyPr>
          <a:lstStyle/>
          <a:p>
            <a:pPr algn="l" indent="0" marL="0">
              <a:lnSpc>
                <a:spcPct val="125000"/>
              </a:lnSpc>
              <a:buNone/>
            </a:pPr>
            <a:r>
              <a:rPr lang="en-US" sz="850" dirty="0">
                <a:solidFill>
                  <a:srgbClr val="2B2E3C"/>
                </a:solidFill>
                <a:latin typeface="Open Sans" pitchFamily="34" charset="0"/>
                <a:ea typeface="Open Sans" pitchFamily="34" charset="-122"/>
                <a:cs typeface="Open Sans" pitchFamily="34" charset="-120"/>
              </a:rPr>
              <a:t>Arbitrary-axis rotation via quaternion</a:t>
            </a:r>
            <a:endParaRPr lang="en-US" sz="850" dirty="0"/>
          </a:p>
        </p:txBody>
      </p:sp>
      <p:sp>
        <p:nvSpPr>
          <p:cNvPr id="26" name="Shape 24"/>
          <p:cNvSpPr/>
          <p:nvPr/>
        </p:nvSpPr>
        <p:spPr>
          <a:xfrm>
            <a:off x="4709145" y="3870647"/>
            <a:ext cx="3943499" cy="653802"/>
          </a:xfrm>
          <a:prstGeom prst="roundRect">
            <a:avLst>
              <a:gd name="adj" fmla="val 6973"/>
            </a:avLst>
          </a:prstGeom>
          <a:solidFill>
            <a:srgbClr val="FCE2CF"/>
          </a:solidFill>
          <a:ln w="4763">
            <a:solidFill>
              <a:srgbClr val="E2C8B5"/>
            </a:solidFill>
            <a:prstDash val="solid"/>
          </a:ln>
        </p:spPr>
      </p:sp>
      <p:sp>
        <p:nvSpPr>
          <p:cNvPr id="27" name="Text 25"/>
          <p:cNvSpPr/>
          <p:nvPr/>
        </p:nvSpPr>
        <p:spPr>
          <a:xfrm>
            <a:off x="4822403" y="3983906"/>
            <a:ext cx="3716982" cy="169515"/>
          </a:xfrm>
          <a:prstGeom prst="rect">
            <a:avLst/>
          </a:prstGeom>
          <a:noFill/>
          <a:ln/>
        </p:spPr>
        <p:txBody>
          <a:bodyPr wrap="none" lIns="0" tIns="0" rIns="0" bIns="0" rtlCol="0" anchor="t"/>
          <a:lstStyle/>
          <a:p>
            <a:pPr algn="l" indent="0" marL="0">
              <a:lnSpc>
                <a:spcPct val="104000"/>
              </a:lnSpc>
              <a:buNone/>
            </a:pPr>
            <a:r>
              <a:rPr lang="en-US" sz="1050" dirty="0">
                <a:solidFill>
                  <a:srgbClr val="2B2E3C"/>
                </a:solidFill>
                <a:latin typeface="Bitter Medium" pitchFamily="34" charset="0"/>
                <a:ea typeface="Bitter Medium" pitchFamily="34" charset="-122"/>
                <a:cs typeface="Bitter Medium" pitchFamily="34" charset="-120"/>
              </a:rPr>
              <a:t>Reset</a:t>
            </a:r>
            <a:endParaRPr lang="en-US" sz="1050" dirty="0"/>
          </a:p>
        </p:txBody>
      </p:sp>
      <p:sp>
        <p:nvSpPr>
          <p:cNvPr id="28" name="Text 26"/>
          <p:cNvSpPr/>
          <p:nvPr/>
        </p:nvSpPr>
        <p:spPr>
          <a:xfrm>
            <a:off x="4822403" y="4248373"/>
            <a:ext cx="3716982" cy="162818"/>
          </a:xfrm>
          <a:prstGeom prst="rect">
            <a:avLst/>
          </a:prstGeom>
          <a:noFill/>
          <a:ln/>
        </p:spPr>
        <p:txBody>
          <a:bodyPr wrap="none" lIns="0" tIns="0" rIns="0" bIns="0" rtlCol="0" anchor="t"/>
          <a:lstStyle/>
          <a:p>
            <a:pPr algn="l" indent="0" marL="0">
              <a:lnSpc>
                <a:spcPct val="125000"/>
              </a:lnSpc>
              <a:buNone/>
            </a:pPr>
            <a:r>
              <a:rPr lang="en-US" sz="850" dirty="0">
                <a:solidFill>
                  <a:srgbClr val="2B2E3C"/>
                </a:solidFill>
                <a:latin typeface="Open Sans" pitchFamily="34" charset="0"/>
                <a:ea typeface="Open Sans" pitchFamily="34" charset="-122"/>
                <a:cs typeface="Open Sans" pitchFamily="34" charset="-120"/>
              </a:rPr>
              <a:t>Restore original transform instantly</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96119" y="381298"/>
            <a:ext cx="496937" cy="213792"/>
          </a:xfrm>
          <a:prstGeom prst="roundRect">
            <a:avLst>
              <a:gd name="adj" fmla="val 18277"/>
            </a:avLst>
          </a:prstGeom>
          <a:solidFill>
            <a:srgbClr val="FCE2CF"/>
          </a:solidFill>
          <a:ln/>
        </p:spPr>
      </p:sp>
      <p:sp>
        <p:nvSpPr>
          <p:cNvPr id="3" name="Text 1"/>
          <p:cNvSpPr/>
          <p:nvPr/>
        </p:nvSpPr>
        <p:spPr>
          <a:xfrm>
            <a:off x="565845" y="416123"/>
            <a:ext cx="814685" cy="144140"/>
          </a:xfrm>
          <a:prstGeom prst="rect">
            <a:avLst/>
          </a:prstGeom>
          <a:noFill/>
          <a:ln/>
        </p:spPr>
        <p:txBody>
          <a:bodyPr wrap="none" lIns="0" tIns="0" rIns="0" bIns="0" rtlCol="0" anchor="t"/>
          <a:lstStyle/>
          <a:p>
            <a:pPr algn="l" indent="0" marL="0">
              <a:lnSpc>
                <a:spcPct val="129000"/>
              </a:lnSpc>
              <a:buNone/>
            </a:pPr>
            <a:r>
              <a:rPr lang="en-US" sz="700" dirty="0">
                <a:solidFill>
                  <a:srgbClr val="2B2E3C"/>
                </a:solidFill>
                <a:latin typeface="Open Sans" pitchFamily="34" charset="0"/>
                <a:ea typeface="Open Sans" pitchFamily="34" charset="-122"/>
                <a:cs typeface="Open Sans" pitchFamily="34" charset="-120"/>
              </a:rPr>
              <a:t>STAGE 9</a:t>
            </a:r>
            <a:endParaRPr lang="en-US" sz="700" dirty="0"/>
          </a:p>
        </p:txBody>
      </p:sp>
      <p:sp>
        <p:nvSpPr>
          <p:cNvPr id="4" name="Shape 2"/>
          <p:cNvSpPr/>
          <p:nvPr/>
        </p:nvSpPr>
        <p:spPr>
          <a:xfrm>
            <a:off x="1051173" y="381298"/>
            <a:ext cx="550069" cy="213792"/>
          </a:xfrm>
          <a:prstGeom prst="roundRect">
            <a:avLst>
              <a:gd name="adj" fmla="val 18277"/>
            </a:avLst>
          </a:prstGeom>
          <a:solidFill>
            <a:srgbClr val="FCE2CF"/>
          </a:solidFill>
          <a:ln/>
        </p:spPr>
      </p:sp>
      <p:sp>
        <p:nvSpPr>
          <p:cNvPr id="5" name="Text 3"/>
          <p:cNvSpPr/>
          <p:nvPr/>
        </p:nvSpPr>
        <p:spPr>
          <a:xfrm>
            <a:off x="1120899" y="416123"/>
            <a:ext cx="867817" cy="144140"/>
          </a:xfrm>
          <a:prstGeom prst="rect">
            <a:avLst/>
          </a:prstGeom>
          <a:noFill/>
          <a:ln/>
        </p:spPr>
        <p:txBody>
          <a:bodyPr wrap="none" lIns="0" tIns="0" rIns="0" bIns="0" rtlCol="0" anchor="t"/>
          <a:lstStyle/>
          <a:p>
            <a:pPr algn="l" indent="0" marL="0">
              <a:lnSpc>
                <a:spcPct val="129000"/>
              </a:lnSpc>
              <a:buNone/>
            </a:pPr>
            <a:r>
              <a:rPr lang="en-US" sz="700" dirty="0">
                <a:solidFill>
                  <a:srgbClr val="2B2E3C"/>
                </a:solidFill>
                <a:latin typeface="Open Sans" pitchFamily="34" charset="0"/>
                <a:ea typeface="Open Sans" pitchFamily="34" charset="-122"/>
                <a:cs typeface="Open Sans" pitchFamily="34" charset="-120"/>
              </a:rPr>
              <a:t>STAGE 10</a:t>
            </a:r>
            <a:endParaRPr lang="en-US" sz="700" dirty="0"/>
          </a:p>
        </p:txBody>
      </p:sp>
      <p:sp>
        <p:nvSpPr>
          <p:cNvPr id="6" name="Text 4"/>
          <p:cNvSpPr/>
          <p:nvPr/>
        </p:nvSpPr>
        <p:spPr>
          <a:xfrm>
            <a:off x="496119" y="638696"/>
            <a:ext cx="8151763" cy="363364"/>
          </a:xfrm>
          <a:prstGeom prst="rect">
            <a:avLst/>
          </a:prstGeom>
          <a:noFill/>
          <a:ln/>
        </p:spPr>
        <p:txBody>
          <a:bodyPr wrap="none" lIns="0" tIns="0" rIns="0" bIns="0" rtlCol="0" anchor="t"/>
          <a:lstStyle/>
          <a:p>
            <a:pPr algn="l" indent="0" marL="0">
              <a:lnSpc>
                <a:spcPct val="104000"/>
              </a:lnSpc>
              <a:buNone/>
            </a:pPr>
            <a:r>
              <a:rPr lang="en-US" sz="2250" dirty="0">
                <a:solidFill>
                  <a:srgbClr val="2C3F42"/>
                </a:solidFill>
                <a:latin typeface="Bitter Medium" pitchFamily="34" charset="0"/>
                <a:ea typeface="Bitter Medium" pitchFamily="34" charset="-122"/>
                <a:cs typeface="Bitter Medium" pitchFamily="34" charset="-120"/>
              </a:rPr>
              <a:t>Scene Reconstruction &amp; Gaussian Export</a:t>
            </a:r>
            <a:endParaRPr lang="en-US" sz="2250" dirty="0"/>
          </a:p>
        </p:txBody>
      </p:sp>
      <p:sp>
        <p:nvSpPr>
          <p:cNvPr id="7" name="Text 5"/>
          <p:cNvSpPr/>
          <p:nvPr/>
        </p:nvSpPr>
        <p:spPr>
          <a:xfrm>
            <a:off x="496119" y="1274564"/>
            <a:ext cx="3934048" cy="181645"/>
          </a:xfrm>
          <a:prstGeom prst="rect">
            <a:avLst/>
          </a:prstGeom>
          <a:noFill/>
          <a:ln/>
        </p:spPr>
        <p:txBody>
          <a:bodyPr wrap="none" lIns="0" tIns="0" rIns="0" bIns="0" rtlCol="0" anchor="t"/>
          <a:lstStyle/>
          <a:p>
            <a:pPr algn="l" indent="0" marL="0">
              <a:lnSpc>
                <a:spcPct val="104000"/>
              </a:lnSpc>
              <a:buNone/>
            </a:pPr>
            <a:r>
              <a:rPr lang="en-US" sz="1100" dirty="0">
                <a:solidFill>
                  <a:srgbClr val="2C3F42"/>
                </a:solidFill>
                <a:latin typeface="Bitter Medium" pitchFamily="34" charset="0"/>
                <a:ea typeface="Bitter Medium" pitchFamily="34" charset="-122"/>
                <a:cs typeface="Bitter Medium" pitchFamily="34" charset="-120"/>
              </a:rPr>
              <a:t>Stage 9 — Scene Reconstruction</a:t>
            </a:r>
            <a:endParaRPr lang="en-US" sz="1100" dirty="0"/>
          </a:p>
        </p:txBody>
      </p:sp>
      <p:sp>
        <p:nvSpPr>
          <p:cNvPr id="8" name="Text 6"/>
          <p:cNvSpPr/>
          <p:nvPr/>
        </p:nvSpPr>
        <p:spPr>
          <a:xfrm>
            <a:off x="496119" y="1565225"/>
            <a:ext cx="3934048" cy="2080617"/>
          </a:xfrm>
          <a:prstGeom prst="rect">
            <a:avLst/>
          </a:prstGeom>
          <a:noFill/>
          <a:ln/>
        </p:spPr>
        <p:txBody>
          <a:bodyPr wrap="square" lIns="0" tIns="0" rIns="0" bIns="0" rtlCol="0" anchor="t">
            <a:normAutofit/>
          </a:bodyPr>
          <a:lstStyle/>
          <a:p>
            <a:pPr algn="l" indent="0" marL="0">
              <a:lnSpc>
                <a:spcPct val="129000"/>
              </a:lnSpc>
              <a:spcAft>
                <a:spcPts val="750"/>
              </a:spcAft>
              <a:buNone/>
            </a:pPr>
            <a:r>
              <a:rPr lang="en-US" sz="900" dirty="0">
                <a:solidFill>
                  <a:srgbClr val="2B2E3C"/>
                </a:solidFill>
                <a:latin typeface="Open Sans" pitchFamily="34" charset="0"/>
                <a:ea typeface="Open Sans" pitchFamily="34" charset="-122"/>
                <a:cs typeface="Open Sans" pitchFamily="34" charset="-120"/>
              </a:rPr>
              <a:t>After the user completes editing, Stage 9 merges the transformed object back into the original environment. The floor (removed during preprocessing) is restored, and the edited object point cloud is recombined with the room point cloud using the preserved cluster masks and original point indices.</a:t>
            </a:r>
            <a:endParaRPr lang="en-US" sz="900" dirty="0"/>
          </a:p>
          <a:p>
            <a:pPr algn="l" indent="0" marL="0">
              <a:lnSpc>
                <a:spcPct val="129000"/>
              </a:lnSpc>
              <a:buNone/>
            </a:pPr>
            <a:r>
              <a:rPr lang="en-US" sz="900" dirty="0">
                <a:solidFill>
                  <a:srgbClr val="2B2E3C"/>
                </a:solidFill>
                <a:latin typeface="Open Sans" pitchFamily="34" charset="0"/>
                <a:ea typeface="Open Sans" pitchFamily="34" charset="-122"/>
                <a:cs typeface="Open Sans" pitchFamily="34" charset="-120"/>
              </a:rPr>
              <a:t>Only the Gaussian parameters of the edited object are updated — position and rotation are transformed according to the accumulated transformation matrix. All untouched Gaussian attributes (scale, opacity, SH coefficients) remain exactly as in the original scene, ensuring </a:t>
            </a:r>
            <a:pPr algn="l" indent="0" marL="0">
              <a:lnSpc>
                <a:spcPct val="129000"/>
              </a:lnSpc>
              <a:buNone/>
            </a:pPr>
            <a:r>
              <a:rPr lang="en-US" sz="900" b="1" dirty="0">
                <a:solidFill>
                  <a:srgbClr val="2B2E3C"/>
                </a:solidFill>
                <a:latin typeface="Open Sans Bold" pitchFamily="34" charset="0"/>
                <a:ea typeface="Open Sans Bold" pitchFamily="34" charset="-122"/>
                <a:cs typeface="Open Sans Bold" pitchFamily="34" charset="-120"/>
              </a:rPr>
              <a:t>complete scene consistency</a:t>
            </a:r>
            <a:pPr algn="l" indent="0" marL="0">
              <a:lnSpc>
                <a:spcPct val="129000"/>
              </a:lnSpc>
              <a:buNone/>
            </a:pPr>
            <a:r>
              <a:rPr lang="en-US" sz="900" dirty="0">
                <a:solidFill>
                  <a:srgbClr val="2B2E3C"/>
                </a:solidFill>
                <a:latin typeface="Open Sans" pitchFamily="34" charset="0"/>
                <a:ea typeface="Open Sans" pitchFamily="34" charset="-122"/>
                <a:cs typeface="Open Sans" pitchFamily="34" charset="-120"/>
              </a:rPr>
              <a:t> and zero collateral modification of the environment.</a:t>
            </a:r>
            <a:endParaRPr lang="en-US" sz="900" dirty="0"/>
          </a:p>
        </p:txBody>
      </p:sp>
      <p:sp>
        <p:nvSpPr>
          <p:cNvPr id="9" name="Shape 7"/>
          <p:cNvSpPr/>
          <p:nvPr/>
        </p:nvSpPr>
        <p:spPr>
          <a:xfrm>
            <a:off x="4634880" y="1165547"/>
            <a:ext cx="4101480" cy="3596655"/>
          </a:xfrm>
          <a:prstGeom prst="roundRect">
            <a:avLst>
              <a:gd name="adj" fmla="val 2328"/>
            </a:avLst>
          </a:prstGeom>
          <a:solidFill>
            <a:srgbClr val="D2600F"/>
          </a:solidFill>
          <a:ln/>
        </p:spPr>
      </p:sp>
      <p:sp>
        <p:nvSpPr>
          <p:cNvPr id="10" name="Text 8"/>
          <p:cNvSpPr/>
          <p:nvPr/>
        </p:nvSpPr>
        <p:spPr>
          <a:xfrm>
            <a:off x="4751115" y="1274564"/>
            <a:ext cx="3869010" cy="181645"/>
          </a:xfrm>
          <a:prstGeom prst="rect">
            <a:avLst/>
          </a:prstGeom>
          <a:noFill/>
          <a:ln/>
        </p:spPr>
        <p:txBody>
          <a:bodyPr wrap="none" lIns="0" tIns="0" rIns="0" bIns="0" rtlCol="0" anchor="t"/>
          <a:lstStyle/>
          <a:p>
            <a:pPr algn="l" indent="0" marL="0">
              <a:lnSpc>
                <a:spcPct val="104000"/>
              </a:lnSpc>
              <a:buNone/>
            </a:pPr>
            <a:r>
              <a:rPr lang="en-US" sz="1100" dirty="0">
                <a:solidFill>
                  <a:srgbClr val="000000"/>
                </a:solidFill>
                <a:latin typeface="Bitter Medium" pitchFamily="34" charset="0"/>
                <a:ea typeface="Bitter Medium" pitchFamily="34" charset="-122"/>
                <a:cs typeface="Bitter Medium" pitchFamily="34" charset="-120"/>
              </a:rPr>
              <a:t>Stage 10 — Standards-Compliant Export</a:t>
            </a:r>
            <a:endParaRPr lang="en-US" sz="1100" dirty="0"/>
          </a:p>
        </p:txBody>
      </p:sp>
      <p:sp>
        <p:nvSpPr>
          <p:cNvPr id="11" name="Text 9"/>
          <p:cNvSpPr/>
          <p:nvPr/>
        </p:nvSpPr>
        <p:spPr>
          <a:xfrm>
            <a:off x="4751115" y="1565225"/>
            <a:ext cx="3869010" cy="540693"/>
          </a:xfrm>
          <a:prstGeom prst="rect">
            <a:avLst/>
          </a:prstGeom>
          <a:noFill/>
          <a:ln/>
        </p:spPr>
        <p:txBody>
          <a:bodyPr wrap="square" lIns="0" tIns="0" rIns="0" bIns="0" rtlCol="0" anchor="t">
            <a:normAutofit/>
          </a:bodyPr>
          <a:lstStyle/>
          <a:p>
            <a:pPr algn="l" indent="0" marL="0">
              <a:lnSpc>
                <a:spcPct val="129000"/>
              </a:lnSpc>
              <a:buNone/>
            </a:pPr>
            <a:r>
              <a:rPr lang="en-US" sz="900" dirty="0">
                <a:solidFill>
                  <a:srgbClr val="000000"/>
                </a:solidFill>
                <a:latin typeface="Open Sans" pitchFamily="34" charset="0"/>
                <a:ea typeface="Open Sans" pitchFamily="34" charset="-122"/>
                <a:cs typeface="Open Sans" pitchFamily="34" charset="-120"/>
              </a:rPr>
              <a:t>The final edited scene is exported in the standard </a:t>
            </a:r>
            <a:pPr algn="l" indent="0" marL="0">
              <a:lnSpc>
                <a:spcPct val="129000"/>
              </a:lnSpc>
              <a:buNone/>
            </a:pPr>
            <a:r>
              <a:rPr lang="en-US" sz="900" b="1" dirty="0">
                <a:solidFill>
                  <a:srgbClr val="000000"/>
                </a:solidFill>
                <a:latin typeface="Open Sans Bold" pitchFamily="34" charset="0"/>
                <a:ea typeface="Open Sans Bold" pitchFamily="34" charset="-122"/>
                <a:cs typeface="Open Sans Bold" pitchFamily="34" charset="-120"/>
              </a:rPr>
              <a:t>3D Gaussian Splat PLY format</a:t>
            </a:r>
            <a:pPr algn="l" indent="0" marL="0">
              <a:lnSpc>
                <a:spcPct val="129000"/>
              </a:lnSpc>
              <a:buNone/>
            </a:pPr>
            <a:r>
              <a:rPr lang="en-US" sz="900" dirty="0">
                <a:solidFill>
                  <a:srgbClr val="000000"/>
                </a:solidFill>
                <a:latin typeface="Open Sans" pitchFamily="34" charset="0"/>
                <a:ea typeface="Open Sans" pitchFamily="34" charset="-122"/>
                <a:cs typeface="Open Sans" pitchFamily="34" charset="-120"/>
              </a:rPr>
              <a:t>, fully compatible with downstream tools including SuperSplat, Postshot, and gsplat.</a:t>
            </a:r>
            <a:endParaRPr lang="en-US" sz="900" dirty="0"/>
          </a:p>
        </p:txBody>
      </p:sp>
      <p:sp>
        <p:nvSpPr>
          <p:cNvPr id="12" name="Text 10"/>
          <p:cNvSpPr/>
          <p:nvPr/>
        </p:nvSpPr>
        <p:spPr>
          <a:xfrm>
            <a:off x="4751115" y="2203996"/>
            <a:ext cx="3869010" cy="1337816"/>
          </a:xfrm>
          <a:prstGeom prst="rect">
            <a:avLst/>
          </a:prstGeom>
          <a:noFill/>
          <a:ln/>
        </p:spPr>
        <p:txBody>
          <a:bodyPr wrap="square" lIns="0" tIns="0" rIns="0" bIns="0" rtlCol="0" anchor="t">
            <a:normAutofit/>
          </a:bodyPr>
          <a:lstStyle/>
          <a:p>
            <a:pPr algn="l" marL="182880" indent="-182880">
              <a:lnSpc>
                <a:spcPct val="129000"/>
              </a:lnSpc>
              <a:buSzPct val="100000"/>
              <a:buChar char="•"/>
            </a:pPr>
            <a:r>
              <a:rPr lang="en-US" sz="900" b="1" dirty="0">
                <a:solidFill>
                  <a:srgbClr val="000000"/>
                </a:solidFill>
                <a:latin typeface="Open Sans Bold" pitchFamily="34" charset="0"/>
                <a:ea typeface="Open Sans Bold" pitchFamily="34" charset="-122"/>
                <a:cs typeface="Open Sans Bold" pitchFamily="34" charset="-120"/>
              </a:rPr>
              <a:t>Untouched objects:</a:t>
            </a:r>
            <a:pPr algn="l" marL="182880" indent="-182880">
              <a:lnSpc>
                <a:spcPct val="129000"/>
              </a:lnSpc>
              <a:buSzPct val="100000"/>
              <a:buChar char="•"/>
            </a:pPr>
            <a:r>
              <a:rPr lang="en-US" sz="900" dirty="0">
                <a:solidFill>
                  <a:srgbClr val="000000"/>
                </a:solidFill>
                <a:latin typeface="Open Sans" pitchFamily="34" charset="0"/>
                <a:ea typeface="Open Sans" pitchFamily="34" charset="-122"/>
                <a:cs typeface="Open Sans" pitchFamily="34" charset="-120"/>
              </a:rPr>
              <a:t> Original scale, rotation, opacity, and SH coefficients copied directly — zero modification</a:t>
            </a:r>
            <a:endParaRPr lang="en-US" sz="900" dirty="0"/>
          </a:p>
          <a:p>
            <a:pPr algn="l" marL="182880" indent="-182880">
              <a:lnSpc>
                <a:spcPct val="129000"/>
              </a:lnSpc>
              <a:buSzPct val="100000"/>
              <a:buChar char="•"/>
            </a:pPr>
            <a:r>
              <a:rPr lang="en-US" sz="900" b="1" dirty="0">
                <a:solidFill>
                  <a:srgbClr val="000000"/>
                </a:solidFill>
                <a:latin typeface="Open Sans Bold" pitchFamily="34" charset="0"/>
                <a:ea typeface="Open Sans Bold" pitchFamily="34" charset="-122"/>
                <a:cs typeface="Open Sans Bold" pitchFamily="34" charset="-120"/>
              </a:rPr>
              <a:t>Edited objects:</a:t>
            </a:r>
            <a:pPr algn="l" marL="182880" indent="-182880">
              <a:lnSpc>
                <a:spcPct val="129000"/>
              </a:lnSpc>
              <a:buSzPct val="100000"/>
              <a:buChar char="•"/>
            </a:pPr>
            <a:r>
              <a:rPr lang="en-US" sz="900" dirty="0">
                <a:solidFill>
                  <a:srgbClr val="000000"/>
                </a:solidFill>
                <a:latin typeface="Open Sans" pitchFamily="34" charset="0"/>
                <a:ea typeface="Open Sans" pitchFamily="34" charset="-122"/>
                <a:cs typeface="Open Sans" pitchFamily="34" charset="-120"/>
              </a:rPr>
              <a:t> Position and rotation updated via the transformation matrix; all other attributes preserved</a:t>
            </a:r>
            <a:endParaRPr lang="en-US" sz="900" dirty="0"/>
          </a:p>
          <a:p>
            <a:pPr algn="l" marL="182880" indent="-182880">
              <a:lnSpc>
                <a:spcPct val="129000"/>
              </a:lnSpc>
              <a:buSzPct val="100000"/>
              <a:buChar char="•"/>
            </a:pPr>
            <a:r>
              <a:rPr lang="en-US" sz="900" b="1" dirty="0">
                <a:solidFill>
                  <a:srgbClr val="000000"/>
                </a:solidFill>
                <a:latin typeface="Open Sans Bold" pitchFamily="34" charset="0"/>
                <a:ea typeface="Open Sans Bold" pitchFamily="34" charset="-122"/>
                <a:cs typeface="Open Sans Bold" pitchFamily="34" charset="-120"/>
              </a:rPr>
              <a:t>Export format:</a:t>
            </a:r>
            <a:pPr algn="l" marL="182880" indent="-182880">
              <a:lnSpc>
                <a:spcPct val="129000"/>
              </a:lnSpc>
              <a:buSzPct val="100000"/>
              <a:buChar char="•"/>
            </a:pPr>
            <a:r>
              <a:rPr lang="en-US" sz="900" dirty="0">
                <a:solidFill>
                  <a:srgbClr val="000000"/>
                </a:solidFill>
                <a:latin typeface="Open Sans" pitchFamily="34" charset="0"/>
                <a:ea typeface="Open Sans" pitchFamily="34" charset="-122"/>
                <a:cs typeface="Open Sans" pitchFamily="34" charset="-120"/>
              </a:rPr>
              <a:t> Standard 3DGS PLY with quaternion rotation representation, log-scale parameters, opacity logits, and full SH coefficients</a:t>
            </a:r>
            <a:endParaRPr lang="en-US" sz="900" dirty="0"/>
          </a:p>
        </p:txBody>
      </p:sp>
      <p:sp>
        <p:nvSpPr>
          <p:cNvPr id="13" name="Shape 11"/>
          <p:cNvSpPr/>
          <p:nvPr/>
        </p:nvSpPr>
        <p:spPr>
          <a:xfrm>
            <a:off x="4751115" y="3664446"/>
            <a:ext cx="3869010" cy="975122"/>
          </a:xfrm>
          <a:prstGeom prst="roundRect">
            <a:avLst>
              <a:gd name="adj" fmla="val 5009"/>
            </a:avLst>
          </a:prstGeom>
          <a:solidFill>
            <a:srgbClr val="773609"/>
          </a:solidFill>
          <a:ln/>
        </p:spPr>
      </p:sp>
      <p:pic>
        <p:nvPicPr>
          <p:cNvPr id="14" name="Image 0" descr="preencoded.png">    </p:cNvPr>
          <p:cNvPicPr>
            <a:picLocks noChangeAspect="1"/>
          </p:cNvPicPr>
          <p:nvPr/>
        </p:nvPicPr>
        <p:blipFill>
          <a:blip r:embed="rId1"/>
          <a:stretch>
            <a:fillRect/>
          </a:stretch>
        </p:blipFill>
        <p:spPr>
          <a:xfrm>
            <a:off x="4867349" y="3841328"/>
            <a:ext cx="145331" cy="116235"/>
          </a:xfrm>
          <a:prstGeom prst="rect">
            <a:avLst/>
          </a:prstGeom>
        </p:spPr>
      </p:pic>
      <p:sp>
        <p:nvSpPr>
          <p:cNvPr id="15" name="Text 12"/>
          <p:cNvSpPr/>
          <p:nvPr/>
        </p:nvSpPr>
        <p:spPr>
          <a:xfrm>
            <a:off x="5128915" y="3791545"/>
            <a:ext cx="3374975" cy="720923"/>
          </a:xfrm>
          <a:prstGeom prst="rect">
            <a:avLst/>
          </a:prstGeom>
          <a:noFill/>
          <a:ln/>
        </p:spPr>
        <p:txBody>
          <a:bodyPr wrap="square" lIns="0" tIns="0" rIns="0" bIns="0" rtlCol="0" anchor="t">
            <a:normAutofit/>
          </a:bodyPr>
          <a:lstStyle/>
          <a:p>
            <a:pPr algn="l" indent="0" marL="0">
              <a:lnSpc>
                <a:spcPct val="129000"/>
              </a:lnSpc>
              <a:buNone/>
            </a:pPr>
            <a:r>
              <a:rPr lang="en-US" sz="900" dirty="0">
                <a:solidFill>
                  <a:srgbClr val="FFFFFF"/>
                </a:solidFill>
                <a:latin typeface="Open Sans" pitchFamily="34" charset="0"/>
                <a:ea typeface="Open Sans" pitchFamily="34" charset="-122"/>
                <a:cs typeface="Open Sans" pitchFamily="34" charset="-120"/>
              </a:rPr>
              <a:t>The use of quaternion representation and log-scale parameters in the export ensures numerical stability and compatibility with the official 3DGS training and rendering codebases.</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96119" y="392088"/>
            <a:ext cx="394618" cy="139154"/>
          </a:xfrm>
          <a:prstGeom prst="roundRect">
            <a:avLst>
              <a:gd name="adj" fmla="val 20124"/>
            </a:avLst>
          </a:prstGeom>
          <a:solidFill>
            <a:srgbClr val="FCE2CF"/>
          </a:solidFill>
          <a:ln/>
        </p:spPr>
      </p:sp>
      <p:sp>
        <p:nvSpPr>
          <p:cNvPr id="3" name="Text 1"/>
          <p:cNvSpPr/>
          <p:nvPr/>
        </p:nvSpPr>
        <p:spPr>
          <a:xfrm>
            <a:off x="546125" y="417091"/>
            <a:ext cx="751805" cy="89148"/>
          </a:xfrm>
          <a:prstGeom prst="rect">
            <a:avLst/>
          </a:prstGeom>
          <a:noFill/>
          <a:ln/>
        </p:spPr>
        <p:txBody>
          <a:bodyPr wrap="none" lIns="0" tIns="0" rIns="0" bIns="0" rtlCol="0" anchor="t"/>
          <a:lstStyle/>
          <a:p>
            <a:pPr algn="l" indent="0" marL="0">
              <a:lnSpc>
                <a:spcPct val="111000"/>
              </a:lnSpc>
              <a:buNone/>
            </a:pPr>
            <a:r>
              <a:rPr lang="en-US" sz="500" dirty="0">
                <a:solidFill>
                  <a:srgbClr val="2B2E3C"/>
                </a:solidFill>
                <a:latin typeface="Open Sans" pitchFamily="34" charset="0"/>
                <a:ea typeface="Open Sans" pitchFamily="34" charset="-122"/>
                <a:cs typeface="Open Sans" pitchFamily="34" charset="-120"/>
              </a:rPr>
              <a:t>STAGE 11</a:t>
            </a:r>
            <a:endParaRPr lang="en-US" sz="500" dirty="0"/>
          </a:p>
        </p:txBody>
      </p:sp>
      <p:sp>
        <p:nvSpPr>
          <p:cNvPr id="4" name="Shape 2"/>
          <p:cNvSpPr/>
          <p:nvPr/>
        </p:nvSpPr>
        <p:spPr>
          <a:xfrm>
            <a:off x="932408" y="392088"/>
            <a:ext cx="425723" cy="139154"/>
          </a:xfrm>
          <a:prstGeom prst="roundRect">
            <a:avLst>
              <a:gd name="adj" fmla="val 20124"/>
            </a:avLst>
          </a:prstGeom>
          <a:noFill/>
          <a:ln/>
          <a:effectLst>
            <a:outerShdw sx="100000" sy="100000" kx="0" ky="0" algn="bl" rotWithShape="0" blurRad="101600" dist="50800" dir="16200000">
              <a:srgbClr val="d2600f">
                <a:alpha val="100000"/>
              </a:srgbClr>
            </a:outerShdw>
          </a:effectLst>
        </p:spPr>
      </p:sp>
      <p:sp>
        <p:nvSpPr>
          <p:cNvPr id="5" name="Text 3"/>
          <p:cNvSpPr/>
          <p:nvPr/>
        </p:nvSpPr>
        <p:spPr>
          <a:xfrm>
            <a:off x="982414" y="417091"/>
            <a:ext cx="782910" cy="89148"/>
          </a:xfrm>
          <a:prstGeom prst="rect">
            <a:avLst/>
          </a:prstGeom>
          <a:noFill/>
          <a:ln/>
        </p:spPr>
        <p:txBody>
          <a:bodyPr wrap="none" lIns="0" tIns="0" rIns="0" bIns="0" rtlCol="0" anchor="t"/>
          <a:lstStyle/>
          <a:p>
            <a:pPr algn="l" indent="0" marL="0">
              <a:lnSpc>
                <a:spcPct val="111000"/>
              </a:lnSpc>
              <a:buNone/>
            </a:pPr>
            <a:r>
              <a:rPr lang="en-US" sz="500" dirty="0">
                <a:solidFill>
                  <a:srgbClr val="D2600F"/>
                </a:solidFill>
                <a:latin typeface="Open Sans" pitchFamily="34" charset="0"/>
                <a:ea typeface="Open Sans" pitchFamily="34" charset="-122"/>
                <a:cs typeface="Open Sans" pitchFamily="34" charset="-120"/>
              </a:rPr>
              <a:t>SUMMARY</a:t>
            </a:r>
            <a:endParaRPr lang="en-US" sz="500" dirty="0"/>
          </a:p>
        </p:txBody>
      </p:sp>
      <p:sp>
        <p:nvSpPr>
          <p:cNvPr id="6" name="Text 4"/>
          <p:cNvSpPr/>
          <p:nvPr/>
        </p:nvSpPr>
        <p:spPr>
          <a:xfrm>
            <a:off x="496119" y="553641"/>
            <a:ext cx="8151763" cy="260449"/>
          </a:xfrm>
          <a:prstGeom prst="rect">
            <a:avLst/>
          </a:prstGeom>
          <a:noFill/>
          <a:ln/>
        </p:spPr>
        <p:txBody>
          <a:bodyPr wrap="none" lIns="0" tIns="0" rIns="0" bIns="0" rtlCol="0" anchor="t"/>
          <a:lstStyle/>
          <a:p>
            <a:pPr algn="l" indent="0" marL="0">
              <a:lnSpc>
                <a:spcPct val="104000"/>
              </a:lnSpc>
              <a:buNone/>
            </a:pPr>
            <a:r>
              <a:rPr lang="en-US" sz="1600" dirty="0">
                <a:solidFill>
                  <a:srgbClr val="2C3F42"/>
                </a:solidFill>
                <a:latin typeface="Bitter Medium" pitchFamily="34" charset="0"/>
                <a:ea typeface="Bitter Medium" pitchFamily="34" charset="-122"/>
                <a:cs typeface="Bitter Medium" pitchFamily="34" charset="-120"/>
              </a:rPr>
              <a:t>Final Rendering &amp; Pipeline Summary</a:t>
            </a:r>
            <a:endParaRPr lang="en-US" sz="1600" dirty="0"/>
          </a:p>
        </p:txBody>
      </p:sp>
      <p:sp>
        <p:nvSpPr>
          <p:cNvPr id="7" name="Text 5"/>
          <p:cNvSpPr/>
          <p:nvPr/>
        </p:nvSpPr>
        <p:spPr>
          <a:xfrm>
            <a:off x="496119" y="953988"/>
            <a:ext cx="3974232" cy="130225"/>
          </a:xfrm>
          <a:prstGeom prst="rect">
            <a:avLst/>
          </a:prstGeom>
          <a:noFill/>
          <a:ln/>
        </p:spPr>
        <p:txBody>
          <a:bodyPr wrap="none" lIns="0" tIns="0" rIns="0" bIns="0" rtlCol="0" anchor="t"/>
          <a:lstStyle/>
          <a:p>
            <a:pPr algn="l" indent="0" marL="0">
              <a:lnSpc>
                <a:spcPct val="104000"/>
              </a:lnSpc>
              <a:buNone/>
            </a:pPr>
            <a:r>
              <a:rPr lang="en-US" sz="800" dirty="0">
                <a:solidFill>
                  <a:srgbClr val="2C3F42"/>
                </a:solidFill>
                <a:latin typeface="Bitter Medium" pitchFamily="34" charset="0"/>
                <a:ea typeface="Bitter Medium" pitchFamily="34" charset="-122"/>
                <a:cs typeface="Bitter Medium" pitchFamily="34" charset="-120"/>
              </a:rPr>
              <a:t>Stage 11 — Rendering Pipeline</a:t>
            </a:r>
            <a:endParaRPr lang="en-US" sz="800" dirty="0"/>
          </a:p>
        </p:txBody>
      </p:sp>
      <p:sp>
        <p:nvSpPr>
          <p:cNvPr id="8" name="Text 6"/>
          <p:cNvSpPr/>
          <p:nvPr/>
        </p:nvSpPr>
        <p:spPr>
          <a:xfrm>
            <a:off x="496119" y="1140172"/>
            <a:ext cx="3974232" cy="222945"/>
          </a:xfrm>
          <a:prstGeom prst="rect">
            <a:avLst/>
          </a:prstGeom>
          <a:noFill/>
          <a:ln/>
        </p:spPr>
        <p:txBody>
          <a:bodyPr wrap="square" lIns="0" tIns="0" rIns="0" bIns="0" rtlCol="0" anchor="t">
            <a:normAutofit/>
          </a:bodyPr>
          <a:lstStyle/>
          <a:p>
            <a:pPr algn="l" indent="0" marL="0">
              <a:lnSpc>
                <a:spcPct val="111000"/>
              </a:lnSpc>
              <a:buNone/>
            </a:pPr>
            <a:r>
              <a:rPr lang="en-US" sz="650" dirty="0">
                <a:solidFill>
                  <a:srgbClr val="2B2E3C"/>
                </a:solidFill>
                <a:latin typeface="Open Sans" pitchFamily="34" charset="0"/>
                <a:ea typeface="Open Sans" pitchFamily="34" charset="-122"/>
                <a:cs typeface="Open Sans" pitchFamily="34" charset="-120"/>
              </a:rPr>
              <a:t>The final stage renders the edited Gaussian scene using a complete per-splat GPU pipeline. For every Gaussian in the scene, the following operations are performed in sequence:</a:t>
            </a:r>
            <a:endParaRPr lang="en-US" sz="650" dirty="0"/>
          </a:p>
        </p:txBody>
      </p:sp>
      <p:sp>
        <p:nvSpPr>
          <p:cNvPr id="9" name="Text 7"/>
          <p:cNvSpPr/>
          <p:nvPr/>
        </p:nvSpPr>
        <p:spPr>
          <a:xfrm>
            <a:off x="496119" y="1426071"/>
            <a:ext cx="166688" cy="104180"/>
          </a:xfrm>
          <a:prstGeom prst="rect">
            <a:avLst/>
          </a:prstGeom>
          <a:noFill/>
          <a:ln/>
        </p:spPr>
        <p:txBody>
          <a:bodyPr wrap="none" lIns="0" tIns="0" rIns="0" bIns="0" rtlCol="0" anchor="ctr"/>
          <a:lstStyle/>
          <a:p>
            <a:pPr algn="l" indent="0" marL="0">
              <a:lnSpc>
                <a:spcPct val="100000"/>
              </a:lnSpc>
              <a:buNone/>
            </a:pPr>
            <a:r>
              <a:rPr lang="en-US" sz="650" dirty="0">
                <a:solidFill>
                  <a:srgbClr val="2B2E3C"/>
                </a:solidFill>
                <a:latin typeface="Bitter Light" pitchFamily="34" charset="0"/>
                <a:ea typeface="Bitter Light" pitchFamily="34" charset="-122"/>
                <a:cs typeface="Bitter Light" pitchFamily="34" charset="-120"/>
              </a:rPr>
              <a:t>01</a:t>
            </a:r>
            <a:endParaRPr lang="en-US" sz="650" dirty="0"/>
          </a:p>
        </p:txBody>
      </p:sp>
      <p:sp>
        <p:nvSpPr>
          <p:cNvPr id="10" name="Shape 8"/>
          <p:cNvSpPr/>
          <p:nvPr/>
        </p:nvSpPr>
        <p:spPr>
          <a:xfrm>
            <a:off x="496119" y="1558230"/>
            <a:ext cx="3974232" cy="9525"/>
          </a:xfrm>
          <a:prstGeom prst="rect">
            <a:avLst/>
          </a:prstGeom>
          <a:solidFill>
            <a:srgbClr val="D2600F"/>
          </a:solidFill>
          <a:ln/>
        </p:spPr>
      </p:sp>
      <p:sp>
        <p:nvSpPr>
          <p:cNvPr id="11" name="Text 9"/>
          <p:cNvSpPr/>
          <p:nvPr/>
        </p:nvSpPr>
        <p:spPr>
          <a:xfrm>
            <a:off x="496119" y="1618952"/>
            <a:ext cx="3974232" cy="130225"/>
          </a:xfrm>
          <a:prstGeom prst="rect">
            <a:avLst/>
          </a:prstGeom>
          <a:noFill/>
          <a:ln/>
        </p:spPr>
        <p:txBody>
          <a:bodyPr wrap="none" lIns="0" tIns="0" rIns="0" bIns="0" rtlCol="0" anchor="t"/>
          <a:lstStyle/>
          <a:p>
            <a:pPr algn="l" indent="0" marL="0">
              <a:lnSpc>
                <a:spcPct val="104000"/>
              </a:lnSpc>
              <a:buNone/>
            </a:pPr>
            <a:r>
              <a:rPr lang="en-US" sz="800" dirty="0">
                <a:solidFill>
                  <a:srgbClr val="2B2E3C"/>
                </a:solidFill>
                <a:latin typeface="Bitter Medium" pitchFamily="34" charset="0"/>
                <a:ea typeface="Bitter Medium" pitchFamily="34" charset="-122"/>
                <a:cs typeface="Bitter Medium" pitchFamily="34" charset="-120"/>
              </a:rPr>
              <a:t>Covariance Projection</a:t>
            </a:r>
            <a:endParaRPr lang="en-US" sz="800" dirty="0"/>
          </a:p>
        </p:txBody>
      </p:sp>
      <p:sp>
        <p:nvSpPr>
          <p:cNvPr id="12" name="Text 10"/>
          <p:cNvSpPr/>
          <p:nvPr/>
        </p:nvSpPr>
        <p:spPr>
          <a:xfrm>
            <a:off x="496119" y="1805136"/>
            <a:ext cx="3974232" cy="111472"/>
          </a:xfrm>
          <a:prstGeom prst="rect">
            <a:avLst/>
          </a:prstGeom>
          <a:noFill/>
          <a:ln/>
        </p:spPr>
        <p:txBody>
          <a:bodyPr wrap="none" lIns="0" tIns="0" rIns="0" bIns="0" rtlCol="0" anchor="t"/>
          <a:lstStyle/>
          <a:p>
            <a:pPr algn="l" indent="0" marL="0">
              <a:lnSpc>
                <a:spcPct val="111000"/>
              </a:lnSpc>
              <a:buNone/>
            </a:pPr>
            <a:r>
              <a:rPr lang="en-US" sz="650" dirty="0">
                <a:solidFill>
                  <a:srgbClr val="2B2E3C"/>
                </a:solidFill>
                <a:latin typeface="Open Sans" pitchFamily="34" charset="0"/>
                <a:ea typeface="Open Sans" pitchFamily="34" charset="-122"/>
                <a:cs typeface="Open Sans" pitchFamily="34" charset="-120"/>
              </a:rPr>
              <a:t>Project 3D covariance into screen space for correct elliptical footprint</a:t>
            </a:r>
            <a:endParaRPr lang="en-US" sz="650" dirty="0"/>
          </a:p>
        </p:txBody>
      </p:sp>
      <p:sp>
        <p:nvSpPr>
          <p:cNvPr id="13" name="Text 11"/>
          <p:cNvSpPr/>
          <p:nvPr/>
        </p:nvSpPr>
        <p:spPr>
          <a:xfrm>
            <a:off x="496119" y="2035076"/>
            <a:ext cx="166688" cy="104180"/>
          </a:xfrm>
          <a:prstGeom prst="rect">
            <a:avLst/>
          </a:prstGeom>
          <a:noFill/>
          <a:ln/>
        </p:spPr>
        <p:txBody>
          <a:bodyPr wrap="none" lIns="0" tIns="0" rIns="0" bIns="0" rtlCol="0" anchor="ctr"/>
          <a:lstStyle/>
          <a:p>
            <a:pPr algn="l" indent="0" marL="0">
              <a:lnSpc>
                <a:spcPct val="100000"/>
              </a:lnSpc>
              <a:buNone/>
            </a:pPr>
            <a:r>
              <a:rPr lang="en-US" sz="650" dirty="0">
                <a:solidFill>
                  <a:srgbClr val="2B2E3C"/>
                </a:solidFill>
                <a:latin typeface="Bitter Light" pitchFamily="34" charset="0"/>
                <a:ea typeface="Bitter Light" pitchFamily="34" charset="-122"/>
                <a:cs typeface="Bitter Light" pitchFamily="34" charset="-120"/>
              </a:rPr>
              <a:t>02</a:t>
            </a:r>
            <a:endParaRPr lang="en-US" sz="650" dirty="0"/>
          </a:p>
        </p:txBody>
      </p:sp>
      <p:sp>
        <p:nvSpPr>
          <p:cNvPr id="14" name="Shape 12"/>
          <p:cNvSpPr/>
          <p:nvPr/>
        </p:nvSpPr>
        <p:spPr>
          <a:xfrm>
            <a:off x="496119" y="2167235"/>
            <a:ext cx="3974232" cy="9525"/>
          </a:xfrm>
          <a:prstGeom prst="rect">
            <a:avLst/>
          </a:prstGeom>
          <a:solidFill>
            <a:srgbClr val="D2600F"/>
          </a:solidFill>
          <a:ln/>
        </p:spPr>
      </p:sp>
      <p:sp>
        <p:nvSpPr>
          <p:cNvPr id="15" name="Text 13"/>
          <p:cNvSpPr/>
          <p:nvPr/>
        </p:nvSpPr>
        <p:spPr>
          <a:xfrm>
            <a:off x="496119" y="2227957"/>
            <a:ext cx="3974232" cy="130225"/>
          </a:xfrm>
          <a:prstGeom prst="rect">
            <a:avLst/>
          </a:prstGeom>
          <a:noFill/>
          <a:ln/>
        </p:spPr>
        <p:txBody>
          <a:bodyPr wrap="none" lIns="0" tIns="0" rIns="0" bIns="0" rtlCol="0" anchor="t"/>
          <a:lstStyle/>
          <a:p>
            <a:pPr algn="l" indent="0" marL="0">
              <a:lnSpc>
                <a:spcPct val="104000"/>
              </a:lnSpc>
              <a:buNone/>
            </a:pPr>
            <a:r>
              <a:rPr lang="en-US" sz="800" dirty="0">
                <a:solidFill>
                  <a:srgbClr val="2B2E3C"/>
                </a:solidFill>
                <a:latin typeface="Bitter Medium" pitchFamily="34" charset="0"/>
                <a:ea typeface="Bitter Medium" pitchFamily="34" charset="-122"/>
                <a:cs typeface="Bitter Medium" pitchFamily="34" charset="-120"/>
              </a:rPr>
              <a:t>Billboard Quad Generation</a:t>
            </a:r>
            <a:endParaRPr lang="en-US" sz="800" dirty="0"/>
          </a:p>
        </p:txBody>
      </p:sp>
      <p:sp>
        <p:nvSpPr>
          <p:cNvPr id="16" name="Text 14"/>
          <p:cNvSpPr/>
          <p:nvPr/>
        </p:nvSpPr>
        <p:spPr>
          <a:xfrm>
            <a:off x="496119" y="2414141"/>
            <a:ext cx="3974232" cy="111472"/>
          </a:xfrm>
          <a:prstGeom prst="rect">
            <a:avLst/>
          </a:prstGeom>
          <a:noFill/>
          <a:ln/>
        </p:spPr>
        <p:txBody>
          <a:bodyPr wrap="none" lIns="0" tIns="0" rIns="0" bIns="0" rtlCol="0" anchor="t"/>
          <a:lstStyle/>
          <a:p>
            <a:pPr algn="l" indent="0" marL="0">
              <a:lnSpc>
                <a:spcPct val="111000"/>
              </a:lnSpc>
              <a:buNone/>
            </a:pPr>
            <a:r>
              <a:rPr lang="en-US" sz="650" dirty="0">
                <a:solidFill>
                  <a:srgbClr val="2B2E3C"/>
                </a:solidFill>
                <a:latin typeface="Open Sans" pitchFamily="34" charset="0"/>
                <a:ea typeface="Open Sans" pitchFamily="34" charset="-122"/>
                <a:cs typeface="Open Sans" pitchFamily="34" charset="-120"/>
              </a:rPr>
              <a:t>Generate a screen-aligned quad sized to the Gaussian's projected extent</a:t>
            </a:r>
            <a:endParaRPr lang="en-US" sz="650" dirty="0"/>
          </a:p>
        </p:txBody>
      </p:sp>
      <p:sp>
        <p:nvSpPr>
          <p:cNvPr id="17" name="Text 15"/>
          <p:cNvSpPr/>
          <p:nvPr/>
        </p:nvSpPr>
        <p:spPr>
          <a:xfrm>
            <a:off x="496119" y="2644080"/>
            <a:ext cx="166688" cy="104180"/>
          </a:xfrm>
          <a:prstGeom prst="rect">
            <a:avLst/>
          </a:prstGeom>
          <a:noFill/>
          <a:ln/>
        </p:spPr>
        <p:txBody>
          <a:bodyPr wrap="none" lIns="0" tIns="0" rIns="0" bIns="0" rtlCol="0" anchor="ctr"/>
          <a:lstStyle/>
          <a:p>
            <a:pPr algn="l" indent="0" marL="0">
              <a:lnSpc>
                <a:spcPct val="100000"/>
              </a:lnSpc>
              <a:buNone/>
            </a:pPr>
            <a:r>
              <a:rPr lang="en-US" sz="650" dirty="0">
                <a:solidFill>
                  <a:srgbClr val="2B2E3C"/>
                </a:solidFill>
                <a:latin typeface="Bitter Light" pitchFamily="34" charset="0"/>
                <a:ea typeface="Bitter Light" pitchFamily="34" charset="-122"/>
                <a:cs typeface="Bitter Light" pitchFamily="34" charset="-120"/>
              </a:rPr>
              <a:t>03</a:t>
            </a:r>
            <a:endParaRPr lang="en-US" sz="650" dirty="0"/>
          </a:p>
        </p:txBody>
      </p:sp>
      <p:sp>
        <p:nvSpPr>
          <p:cNvPr id="18" name="Shape 16"/>
          <p:cNvSpPr/>
          <p:nvPr/>
        </p:nvSpPr>
        <p:spPr>
          <a:xfrm>
            <a:off x="496119" y="2776240"/>
            <a:ext cx="3974232" cy="9525"/>
          </a:xfrm>
          <a:prstGeom prst="rect">
            <a:avLst/>
          </a:prstGeom>
          <a:solidFill>
            <a:srgbClr val="D2600F"/>
          </a:solidFill>
          <a:ln/>
        </p:spPr>
      </p:sp>
      <p:sp>
        <p:nvSpPr>
          <p:cNvPr id="19" name="Text 17"/>
          <p:cNvSpPr/>
          <p:nvPr/>
        </p:nvSpPr>
        <p:spPr>
          <a:xfrm>
            <a:off x="496119" y="2836962"/>
            <a:ext cx="3974232" cy="130225"/>
          </a:xfrm>
          <a:prstGeom prst="rect">
            <a:avLst/>
          </a:prstGeom>
          <a:noFill/>
          <a:ln/>
        </p:spPr>
        <p:txBody>
          <a:bodyPr wrap="none" lIns="0" tIns="0" rIns="0" bIns="0" rtlCol="0" anchor="t"/>
          <a:lstStyle/>
          <a:p>
            <a:pPr algn="l" indent="0" marL="0">
              <a:lnSpc>
                <a:spcPct val="104000"/>
              </a:lnSpc>
              <a:buNone/>
            </a:pPr>
            <a:r>
              <a:rPr lang="en-US" sz="800" dirty="0">
                <a:solidFill>
                  <a:srgbClr val="2B2E3C"/>
                </a:solidFill>
                <a:latin typeface="Bitter Medium" pitchFamily="34" charset="0"/>
                <a:ea typeface="Bitter Medium" pitchFamily="34" charset="-122"/>
                <a:cs typeface="Bitter Medium" pitchFamily="34" charset="-120"/>
              </a:rPr>
              <a:t>Alpha Evaluation</a:t>
            </a:r>
            <a:endParaRPr lang="en-US" sz="800" dirty="0"/>
          </a:p>
        </p:txBody>
      </p:sp>
      <p:sp>
        <p:nvSpPr>
          <p:cNvPr id="20" name="Text 18"/>
          <p:cNvSpPr/>
          <p:nvPr/>
        </p:nvSpPr>
        <p:spPr>
          <a:xfrm>
            <a:off x="496119" y="3023146"/>
            <a:ext cx="3974232" cy="111472"/>
          </a:xfrm>
          <a:prstGeom prst="rect">
            <a:avLst/>
          </a:prstGeom>
          <a:noFill/>
          <a:ln/>
        </p:spPr>
        <p:txBody>
          <a:bodyPr wrap="none" lIns="0" tIns="0" rIns="0" bIns="0" rtlCol="0" anchor="t"/>
          <a:lstStyle/>
          <a:p>
            <a:pPr algn="l" indent="0" marL="0">
              <a:lnSpc>
                <a:spcPct val="111000"/>
              </a:lnSpc>
              <a:buNone/>
            </a:pPr>
            <a:r>
              <a:rPr lang="en-US" sz="650" dirty="0">
                <a:solidFill>
                  <a:srgbClr val="2B2E3C"/>
                </a:solidFill>
                <a:latin typeface="Open Sans" pitchFamily="34" charset="0"/>
                <a:ea typeface="Open Sans" pitchFamily="34" charset="-122"/>
                <a:cs typeface="Open Sans" pitchFamily="34" charset="-120"/>
              </a:rPr>
              <a:t>Compute per-pixel Gaussian alpha from the projected covariance</a:t>
            </a:r>
            <a:endParaRPr lang="en-US" sz="650" dirty="0"/>
          </a:p>
        </p:txBody>
      </p:sp>
      <p:sp>
        <p:nvSpPr>
          <p:cNvPr id="21" name="Text 19"/>
          <p:cNvSpPr/>
          <p:nvPr/>
        </p:nvSpPr>
        <p:spPr>
          <a:xfrm>
            <a:off x="496119" y="3253085"/>
            <a:ext cx="166688" cy="104180"/>
          </a:xfrm>
          <a:prstGeom prst="rect">
            <a:avLst/>
          </a:prstGeom>
          <a:noFill/>
          <a:ln/>
        </p:spPr>
        <p:txBody>
          <a:bodyPr wrap="none" lIns="0" tIns="0" rIns="0" bIns="0" rtlCol="0" anchor="ctr"/>
          <a:lstStyle/>
          <a:p>
            <a:pPr algn="l" indent="0" marL="0">
              <a:lnSpc>
                <a:spcPct val="100000"/>
              </a:lnSpc>
              <a:buNone/>
            </a:pPr>
            <a:r>
              <a:rPr lang="en-US" sz="650" dirty="0">
                <a:solidFill>
                  <a:srgbClr val="2B2E3C"/>
                </a:solidFill>
                <a:latin typeface="Bitter Light" pitchFamily="34" charset="0"/>
                <a:ea typeface="Bitter Light" pitchFamily="34" charset="-122"/>
                <a:cs typeface="Bitter Light" pitchFamily="34" charset="-120"/>
              </a:rPr>
              <a:t>04</a:t>
            </a:r>
            <a:endParaRPr lang="en-US" sz="650" dirty="0"/>
          </a:p>
        </p:txBody>
      </p:sp>
      <p:sp>
        <p:nvSpPr>
          <p:cNvPr id="22" name="Shape 20"/>
          <p:cNvSpPr/>
          <p:nvPr/>
        </p:nvSpPr>
        <p:spPr>
          <a:xfrm>
            <a:off x="496119" y="3385245"/>
            <a:ext cx="3974232" cy="9525"/>
          </a:xfrm>
          <a:prstGeom prst="rect">
            <a:avLst/>
          </a:prstGeom>
          <a:solidFill>
            <a:srgbClr val="D2600F"/>
          </a:solidFill>
          <a:ln/>
        </p:spPr>
      </p:sp>
      <p:sp>
        <p:nvSpPr>
          <p:cNvPr id="23" name="Text 21"/>
          <p:cNvSpPr/>
          <p:nvPr/>
        </p:nvSpPr>
        <p:spPr>
          <a:xfrm>
            <a:off x="496119" y="3445966"/>
            <a:ext cx="3974232" cy="130225"/>
          </a:xfrm>
          <a:prstGeom prst="rect">
            <a:avLst/>
          </a:prstGeom>
          <a:noFill/>
          <a:ln/>
        </p:spPr>
        <p:txBody>
          <a:bodyPr wrap="none" lIns="0" tIns="0" rIns="0" bIns="0" rtlCol="0" anchor="t"/>
          <a:lstStyle/>
          <a:p>
            <a:pPr algn="l" indent="0" marL="0">
              <a:lnSpc>
                <a:spcPct val="104000"/>
              </a:lnSpc>
              <a:buNone/>
            </a:pPr>
            <a:r>
              <a:rPr lang="en-US" sz="800" dirty="0">
                <a:solidFill>
                  <a:srgbClr val="2B2E3C"/>
                </a:solidFill>
                <a:latin typeface="Bitter Medium" pitchFamily="34" charset="0"/>
                <a:ea typeface="Bitter Medium" pitchFamily="34" charset="-122"/>
                <a:cs typeface="Bitter Medium" pitchFamily="34" charset="-120"/>
              </a:rPr>
              <a:t>Depth Sorting</a:t>
            </a:r>
            <a:endParaRPr lang="en-US" sz="800" dirty="0"/>
          </a:p>
        </p:txBody>
      </p:sp>
      <p:sp>
        <p:nvSpPr>
          <p:cNvPr id="24" name="Text 22"/>
          <p:cNvSpPr/>
          <p:nvPr/>
        </p:nvSpPr>
        <p:spPr>
          <a:xfrm>
            <a:off x="496119" y="3632150"/>
            <a:ext cx="3974232" cy="111472"/>
          </a:xfrm>
          <a:prstGeom prst="rect">
            <a:avLst/>
          </a:prstGeom>
          <a:noFill/>
          <a:ln/>
        </p:spPr>
        <p:txBody>
          <a:bodyPr wrap="none" lIns="0" tIns="0" rIns="0" bIns="0" rtlCol="0" anchor="t"/>
          <a:lstStyle/>
          <a:p>
            <a:pPr algn="l" indent="0" marL="0">
              <a:lnSpc>
                <a:spcPct val="111000"/>
              </a:lnSpc>
              <a:buNone/>
            </a:pPr>
            <a:r>
              <a:rPr lang="en-US" sz="650" dirty="0">
                <a:solidFill>
                  <a:srgbClr val="2B2E3C"/>
                </a:solidFill>
                <a:latin typeface="Open Sans" pitchFamily="34" charset="0"/>
                <a:ea typeface="Open Sans" pitchFamily="34" charset="-122"/>
                <a:cs typeface="Open Sans" pitchFamily="34" charset="-120"/>
              </a:rPr>
              <a:t>Sort splats back-to-front for correct alpha blending order</a:t>
            </a:r>
            <a:endParaRPr lang="en-US" sz="650" dirty="0"/>
          </a:p>
        </p:txBody>
      </p:sp>
      <p:sp>
        <p:nvSpPr>
          <p:cNvPr id="25" name="Text 23"/>
          <p:cNvSpPr/>
          <p:nvPr/>
        </p:nvSpPr>
        <p:spPr>
          <a:xfrm>
            <a:off x="496119" y="3862090"/>
            <a:ext cx="166688" cy="104180"/>
          </a:xfrm>
          <a:prstGeom prst="rect">
            <a:avLst/>
          </a:prstGeom>
          <a:noFill/>
          <a:ln/>
        </p:spPr>
        <p:txBody>
          <a:bodyPr wrap="none" lIns="0" tIns="0" rIns="0" bIns="0" rtlCol="0" anchor="ctr"/>
          <a:lstStyle/>
          <a:p>
            <a:pPr algn="l" indent="0" marL="0">
              <a:lnSpc>
                <a:spcPct val="100000"/>
              </a:lnSpc>
              <a:buNone/>
            </a:pPr>
            <a:r>
              <a:rPr lang="en-US" sz="650" dirty="0">
                <a:solidFill>
                  <a:srgbClr val="2B2E3C"/>
                </a:solidFill>
                <a:latin typeface="Bitter Light" pitchFamily="34" charset="0"/>
                <a:ea typeface="Bitter Light" pitchFamily="34" charset="-122"/>
                <a:cs typeface="Bitter Light" pitchFamily="34" charset="-120"/>
              </a:rPr>
              <a:t>05</a:t>
            </a:r>
            <a:endParaRPr lang="en-US" sz="650" dirty="0"/>
          </a:p>
        </p:txBody>
      </p:sp>
      <p:sp>
        <p:nvSpPr>
          <p:cNvPr id="26" name="Shape 24"/>
          <p:cNvSpPr/>
          <p:nvPr/>
        </p:nvSpPr>
        <p:spPr>
          <a:xfrm>
            <a:off x="496119" y="3994249"/>
            <a:ext cx="3974232" cy="9525"/>
          </a:xfrm>
          <a:prstGeom prst="rect">
            <a:avLst/>
          </a:prstGeom>
          <a:solidFill>
            <a:srgbClr val="D2600F"/>
          </a:solidFill>
          <a:ln/>
        </p:spPr>
      </p:sp>
      <p:sp>
        <p:nvSpPr>
          <p:cNvPr id="27" name="Text 25"/>
          <p:cNvSpPr/>
          <p:nvPr/>
        </p:nvSpPr>
        <p:spPr>
          <a:xfrm>
            <a:off x="496119" y="4054971"/>
            <a:ext cx="3974232" cy="130225"/>
          </a:xfrm>
          <a:prstGeom prst="rect">
            <a:avLst/>
          </a:prstGeom>
          <a:noFill/>
          <a:ln/>
        </p:spPr>
        <p:txBody>
          <a:bodyPr wrap="none" lIns="0" tIns="0" rIns="0" bIns="0" rtlCol="0" anchor="t"/>
          <a:lstStyle/>
          <a:p>
            <a:pPr algn="l" indent="0" marL="0">
              <a:lnSpc>
                <a:spcPct val="104000"/>
              </a:lnSpc>
              <a:buNone/>
            </a:pPr>
            <a:r>
              <a:rPr lang="en-US" sz="800" dirty="0">
                <a:solidFill>
                  <a:srgbClr val="2B2E3C"/>
                </a:solidFill>
                <a:latin typeface="Bitter Medium" pitchFamily="34" charset="0"/>
                <a:ea typeface="Bitter Medium" pitchFamily="34" charset="-122"/>
                <a:cs typeface="Bitter Medium" pitchFamily="34" charset="-120"/>
              </a:rPr>
              <a:t>Lighting &amp; Blending</a:t>
            </a:r>
            <a:endParaRPr lang="en-US" sz="800" dirty="0"/>
          </a:p>
        </p:txBody>
      </p:sp>
      <p:sp>
        <p:nvSpPr>
          <p:cNvPr id="28" name="Text 26"/>
          <p:cNvSpPr/>
          <p:nvPr/>
        </p:nvSpPr>
        <p:spPr>
          <a:xfrm>
            <a:off x="496119" y="4241155"/>
            <a:ext cx="3974232" cy="111472"/>
          </a:xfrm>
          <a:prstGeom prst="rect">
            <a:avLst/>
          </a:prstGeom>
          <a:noFill/>
          <a:ln/>
        </p:spPr>
        <p:txBody>
          <a:bodyPr wrap="none" lIns="0" tIns="0" rIns="0" bIns="0" rtlCol="0" anchor="t"/>
          <a:lstStyle/>
          <a:p>
            <a:pPr algn="l" indent="0" marL="0">
              <a:lnSpc>
                <a:spcPct val="111000"/>
              </a:lnSpc>
              <a:buNone/>
            </a:pPr>
            <a:r>
              <a:rPr lang="en-US" sz="650" dirty="0">
                <a:solidFill>
                  <a:srgbClr val="2B2E3C"/>
                </a:solidFill>
                <a:latin typeface="Open Sans" pitchFamily="34" charset="0"/>
                <a:ea typeface="Open Sans" pitchFamily="34" charset="-122"/>
                <a:cs typeface="Open Sans" pitchFamily="34" charset="-120"/>
              </a:rPr>
              <a:t>Apply Blinn-Phong shading, specular reflections, and blend contributions</a:t>
            </a:r>
            <a:endParaRPr lang="en-US" sz="650" dirty="0"/>
          </a:p>
        </p:txBody>
      </p:sp>
      <p:sp>
        <p:nvSpPr>
          <p:cNvPr id="29" name="Text 27"/>
          <p:cNvSpPr/>
          <p:nvPr/>
        </p:nvSpPr>
        <p:spPr>
          <a:xfrm>
            <a:off x="496119" y="4478089"/>
            <a:ext cx="3974232" cy="222945"/>
          </a:xfrm>
          <a:prstGeom prst="rect">
            <a:avLst/>
          </a:prstGeom>
          <a:noFill/>
          <a:ln/>
        </p:spPr>
        <p:txBody>
          <a:bodyPr wrap="square" lIns="0" tIns="0" rIns="0" bIns="0" rtlCol="0" anchor="t">
            <a:normAutofit/>
          </a:bodyPr>
          <a:lstStyle/>
          <a:p>
            <a:pPr algn="l" indent="0" marL="0">
              <a:lnSpc>
                <a:spcPct val="111000"/>
              </a:lnSpc>
              <a:buNone/>
            </a:pPr>
            <a:r>
              <a:rPr lang="en-US" sz="650" dirty="0">
                <a:solidFill>
                  <a:srgbClr val="2B2E3C"/>
                </a:solidFill>
                <a:latin typeface="Open Sans" pitchFamily="34" charset="0"/>
                <a:ea typeface="Open Sans" pitchFamily="34" charset="-122"/>
                <a:cs typeface="Open Sans" pitchFamily="34" charset="-120"/>
              </a:rPr>
              <a:t>The result is a photorealistic, real-time render of the edited scene with full camera controls and interactive lighting.</a:t>
            </a:r>
            <a:endParaRPr lang="en-US" sz="650" dirty="0"/>
          </a:p>
        </p:txBody>
      </p:sp>
      <p:sp>
        <p:nvSpPr>
          <p:cNvPr id="30" name="Text 28"/>
          <p:cNvSpPr/>
          <p:nvPr/>
        </p:nvSpPr>
        <p:spPr>
          <a:xfrm>
            <a:off x="4678412" y="953988"/>
            <a:ext cx="3974232" cy="130225"/>
          </a:xfrm>
          <a:prstGeom prst="rect">
            <a:avLst/>
          </a:prstGeom>
          <a:noFill/>
          <a:ln/>
        </p:spPr>
        <p:txBody>
          <a:bodyPr wrap="none" lIns="0" tIns="0" rIns="0" bIns="0" rtlCol="0" anchor="t"/>
          <a:lstStyle/>
          <a:p>
            <a:pPr algn="l" indent="0" marL="0">
              <a:lnSpc>
                <a:spcPct val="104000"/>
              </a:lnSpc>
              <a:buNone/>
            </a:pPr>
            <a:r>
              <a:rPr lang="en-US" sz="800" dirty="0">
                <a:solidFill>
                  <a:srgbClr val="2C3F42"/>
                </a:solidFill>
                <a:latin typeface="Bitter Medium" pitchFamily="34" charset="0"/>
                <a:ea typeface="Bitter Medium" pitchFamily="34" charset="-122"/>
                <a:cs typeface="Bitter Medium" pitchFamily="34" charset="-120"/>
              </a:rPr>
              <a:t>Key Achievements</a:t>
            </a:r>
            <a:endParaRPr lang="en-US" sz="800" dirty="0"/>
          </a:p>
        </p:txBody>
      </p:sp>
      <p:pic>
        <p:nvPicPr>
          <p:cNvPr id="31"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678412" y="1147167"/>
            <a:ext cx="1959099" cy="706338"/>
          </a:xfrm>
          <a:prstGeom prst="rect">
            <a:avLst/>
          </a:prstGeom>
        </p:spPr>
      </p:pic>
      <p:sp>
        <p:nvSpPr>
          <p:cNvPr id="32" name="Text 29"/>
          <p:cNvSpPr/>
          <p:nvPr/>
        </p:nvSpPr>
        <p:spPr>
          <a:xfrm>
            <a:off x="4809381" y="1240036"/>
            <a:ext cx="1735262" cy="130225"/>
          </a:xfrm>
          <a:prstGeom prst="rect">
            <a:avLst/>
          </a:prstGeom>
          <a:noFill/>
          <a:ln/>
        </p:spPr>
        <p:txBody>
          <a:bodyPr wrap="none" lIns="0" tIns="0" rIns="0" bIns="0" rtlCol="0" anchor="t"/>
          <a:lstStyle/>
          <a:p>
            <a:pPr algn="l" indent="0" marL="0">
              <a:lnSpc>
                <a:spcPct val="104000"/>
              </a:lnSpc>
              <a:buNone/>
            </a:pPr>
            <a:r>
              <a:rPr lang="en-US" sz="800" dirty="0">
                <a:solidFill>
                  <a:srgbClr val="2B2E3C"/>
                </a:solidFill>
                <a:latin typeface="Bitter Medium" pitchFamily="34" charset="0"/>
                <a:ea typeface="Bitter Medium" pitchFamily="34" charset="-122"/>
                <a:cs typeface="Bitter Medium" pitchFamily="34" charset="-120"/>
              </a:rPr>
              <a:t>Multi-Format Input</a:t>
            </a:r>
            <a:endParaRPr lang="en-US" sz="800" dirty="0"/>
          </a:p>
        </p:txBody>
      </p:sp>
      <p:sp>
        <p:nvSpPr>
          <p:cNvPr id="33" name="Text 30"/>
          <p:cNvSpPr/>
          <p:nvPr/>
        </p:nvSpPr>
        <p:spPr>
          <a:xfrm>
            <a:off x="4809381" y="1426220"/>
            <a:ext cx="1735262" cy="222945"/>
          </a:xfrm>
          <a:prstGeom prst="rect">
            <a:avLst/>
          </a:prstGeom>
          <a:noFill/>
          <a:ln/>
        </p:spPr>
        <p:txBody>
          <a:bodyPr wrap="square" lIns="0" tIns="0" rIns="0" bIns="0" rtlCol="0" anchor="t">
            <a:normAutofit/>
          </a:bodyPr>
          <a:lstStyle/>
          <a:p>
            <a:pPr algn="l" indent="0" marL="0">
              <a:lnSpc>
                <a:spcPct val="111000"/>
              </a:lnSpc>
              <a:buNone/>
            </a:pPr>
            <a:r>
              <a:rPr lang="en-US" sz="650" dirty="0">
                <a:solidFill>
                  <a:srgbClr val="2B2E3C"/>
                </a:solidFill>
                <a:latin typeface="Open Sans" pitchFamily="34" charset="0"/>
                <a:ea typeface="Open Sans" pitchFamily="34" charset="-122"/>
                <a:cs typeface="Open Sans" pitchFamily="34" charset="-120"/>
              </a:rPr>
              <a:t>Supports PLY, PCD, XYZ, and native 3DGS PLY with automatic format detection</a:t>
            </a:r>
            <a:endParaRPr lang="en-US" sz="650" dirty="0"/>
          </a:p>
        </p:txBody>
      </p:sp>
      <p:pic>
        <p:nvPicPr>
          <p:cNvPr id="34"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93471" y="1147167"/>
            <a:ext cx="1959173" cy="706338"/>
          </a:xfrm>
          <a:prstGeom prst="rect">
            <a:avLst/>
          </a:prstGeom>
        </p:spPr>
      </p:pic>
      <p:sp>
        <p:nvSpPr>
          <p:cNvPr id="35" name="Text 31"/>
          <p:cNvSpPr/>
          <p:nvPr/>
        </p:nvSpPr>
        <p:spPr>
          <a:xfrm>
            <a:off x="6824439" y="1240036"/>
            <a:ext cx="1735336" cy="130225"/>
          </a:xfrm>
          <a:prstGeom prst="rect">
            <a:avLst/>
          </a:prstGeom>
          <a:noFill/>
          <a:ln/>
        </p:spPr>
        <p:txBody>
          <a:bodyPr wrap="none" lIns="0" tIns="0" rIns="0" bIns="0" rtlCol="0" anchor="t"/>
          <a:lstStyle/>
          <a:p>
            <a:pPr algn="l" indent="0" marL="0">
              <a:lnSpc>
                <a:spcPct val="104000"/>
              </a:lnSpc>
              <a:buNone/>
            </a:pPr>
            <a:r>
              <a:rPr lang="en-US" sz="800" dirty="0">
                <a:solidFill>
                  <a:srgbClr val="2B2E3C"/>
                </a:solidFill>
                <a:latin typeface="Bitter Medium" pitchFamily="34" charset="0"/>
                <a:ea typeface="Bitter Medium" pitchFamily="34" charset="-122"/>
                <a:cs typeface="Bitter Medium" pitchFamily="34" charset="-120"/>
              </a:rPr>
              <a:t>Non-Destructive Editing</a:t>
            </a:r>
            <a:endParaRPr lang="en-US" sz="800" dirty="0"/>
          </a:p>
        </p:txBody>
      </p:sp>
      <p:sp>
        <p:nvSpPr>
          <p:cNvPr id="36" name="Text 32"/>
          <p:cNvSpPr/>
          <p:nvPr/>
        </p:nvSpPr>
        <p:spPr>
          <a:xfrm>
            <a:off x="6824439" y="1426220"/>
            <a:ext cx="1735336" cy="334417"/>
          </a:xfrm>
          <a:prstGeom prst="rect">
            <a:avLst/>
          </a:prstGeom>
          <a:noFill/>
          <a:ln/>
        </p:spPr>
        <p:txBody>
          <a:bodyPr wrap="square" lIns="0" tIns="0" rIns="0" bIns="0" rtlCol="0" anchor="t">
            <a:normAutofit/>
          </a:bodyPr>
          <a:lstStyle/>
          <a:p>
            <a:pPr algn="l" indent="0" marL="0">
              <a:lnSpc>
                <a:spcPct val="111000"/>
              </a:lnSpc>
              <a:buNone/>
            </a:pPr>
            <a:r>
              <a:rPr lang="en-US" sz="650" dirty="0">
                <a:solidFill>
                  <a:srgbClr val="2B2E3C"/>
                </a:solidFill>
                <a:latin typeface="Open Sans" pitchFamily="34" charset="0"/>
                <a:ea typeface="Open Sans" pitchFamily="34" charset="-122"/>
                <a:cs typeface="Open Sans" pitchFamily="34" charset="-120"/>
              </a:rPr>
              <a:t>SourceSplat Architecture preserves all original Gaussian attributes throughout the pipeline</a:t>
            </a:r>
            <a:endParaRPr lang="en-US" sz="650" dirty="0"/>
          </a:p>
        </p:txBody>
      </p:sp>
      <p:pic>
        <p:nvPicPr>
          <p:cNvPr id="3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678412" y="1909465"/>
            <a:ext cx="1959099" cy="594866"/>
          </a:xfrm>
          <a:prstGeom prst="rect">
            <a:avLst/>
          </a:prstGeom>
        </p:spPr>
      </p:pic>
      <p:sp>
        <p:nvSpPr>
          <p:cNvPr id="38" name="Text 33"/>
          <p:cNvSpPr/>
          <p:nvPr/>
        </p:nvSpPr>
        <p:spPr>
          <a:xfrm>
            <a:off x="4809381" y="2002334"/>
            <a:ext cx="1735262" cy="130225"/>
          </a:xfrm>
          <a:prstGeom prst="rect">
            <a:avLst/>
          </a:prstGeom>
          <a:noFill/>
          <a:ln/>
        </p:spPr>
        <p:txBody>
          <a:bodyPr wrap="none" lIns="0" tIns="0" rIns="0" bIns="0" rtlCol="0" anchor="t"/>
          <a:lstStyle/>
          <a:p>
            <a:pPr algn="l" indent="0" marL="0">
              <a:lnSpc>
                <a:spcPct val="104000"/>
              </a:lnSpc>
              <a:buNone/>
            </a:pPr>
            <a:r>
              <a:rPr lang="en-US" sz="800" dirty="0">
                <a:solidFill>
                  <a:srgbClr val="2B2E3C"/>
                </a:solidFill>
                <a:latin typeface="Bitter Medium" pitchFamily="34" charset="0"/>
                <a:ea typeface="Bitter Medium" pitchFamily="34" charset="-122"/>
                <a:cs typeface="Bitter Medium" pitchFamily="34" charset="-120"/>
              </a:rPr>
              <a:t>Standards-Compliant Export</a:t>
            </a:r>
            <a:endParaRPr lang="en-US" sz="800" dirty="0"/>
          </a:p>
        </p:txBody>
      </p:sp>
      <p:sp>
        <p:nvSpPr>
          <p:cNvPr id="39" name="Text 34"/>
          <p:cNvSpPr/>
          <p:nvPr/>
        </p:nvSpPr>
        <p:spPr>
          <a:xfrm>
            <a:off x="4809381" y="2188518"/>
            <a:ext cx="1735262" cy="222945"/>
          </a:xfrm>
          <a:prstGeom prst="rect">
            <a:avLst/>
          </a:prstGeom>
          <a:noFill/>
          <a:ln/>
        </p:spPr>
        <p:txBody>
          <a:bodyPr wrap="square" lIns="0" tIns="0" rIns="0" bIns="0" rtlCol="0" anchor="t">
            <a:normAutofit/>
          </a:bodyPr>
          <a:lstStyle/>
          <a:p>
            <a:pPr algn="l" indent="0" marL="0">
              <a:lnSpc>
                <a:spcPct val="111000"/>
              </a:lnSpc>
              <a:buNone/>
            </a:pPr>
            <a:r>
              <a:rPr lang="en-US" sz="650" dirty="0">
                <a:solidFill>
                  <a:srgbClr val="2B2E3C"/>
                </a:solidFill>
                <a:latin typeface="Open Sans" pitchFamily="34" charset="0"/>
                <a:ea typeface="Open Sans" pitchFamily="34" charset="-122"/>
                <a:cs typeface="Open Sans" pitchFamily="34" charset="-120"/>
              </a:rPr>
              <a:t>Output compatible with SuperSplat, Postshot, and gsplat without conversion</a:t>
            </a:r>
            <a:endParaRPr lang="en-US" sz="650" dirty="0"/>
          </a:p>
        </p:txBody>
      </p:sp>
      <p:pic>
        <p:nvPicPr>
          <p:cNvPr id="40"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693471" y="1909465"/>
            <a:ext cx="1959173" cy="594866"/>
          </a:xfrm>
          <a:prstGeom prst="rect">
            <a:avLst/>
          </a:prstGeom>
        </p:spPr>
      </p:pic>
      <p:sp>
        <p:nvSpPr>
          <p:cNvPr id="41" name="Text 35"/>
          <p:cNvSpPr/>
          <p:nvPr/>
        </p:nvSpPr>
        <p:spPr>
          <a:xfrm>
            <a:off x="6824439" y="2002334"/>
            <a:ext cx="1735336" cy="130225"/>
          </a:xfrm>
          <a:prstGeom prst="rect">
            <a:avLst/>
          </a:prstGeom>
          <a:noFill/>
          <a:ln/>
        </p:spPr>
        <p:txBody>
          <a:bodyPr wrap="none" lIns="0" tIns="0" rIns="0" bIns="0" rtlCol="0" anchor="t"/>
          <a:lstStyle/>
          <a:p>
            <a:pPr algn="l" indent="0" marL="0">
              <a:lnSpc>
                <a:spcPct val="104000"/>
              </a:lnSpc>
              <a:buNone/>
            </a:pPr>
            <a:r>
              <a:rPr lang="en-US" sz="800" dirty="0">
                <a:solidFill>
                  <a:srgbClr val="2B2E3C"/>
                </a:solidFill>
                <a:latin typeface="Bitter Medium" pitchFamily="34" charset="0"/>
                <a:ea typeface="Bitter Medium" pitchFamily="34" charset="-122"/>
                <a:cs typeface="Bitter Medium" pitchFamily="34" charset="-120"/>
              </a:rPr>
              <a:t>Real-Time Interaction</a:t>
            </a:r>
            <a:endParaRPr lang="en-US" sz="800" dirty="0"/>
          </a:p>
        </p:txBody>
      </p:sp>
      <p:sp>
        <p:nvSpPr>
          <p:cNvPr id="42" name="Text 36"/>
          <p:cNvSpPr/>
          <p:nvPr/>
        </p:nvSpPr>
        <p:spPr>
          <a:xfrm>
            <a:off x="6824439" y="2188518"/>
            <a:ext cx="1735336" cy="222945"/>
          </a:xfrm>
          <a:prstGeom prst="rect">
            <a:avLst/>
          </a:prstGeom>
          <a:noFill/>
          <a:ln/>
        </p:spPr>
        <p:txBody>
          <a:bodyPr wrap="square" lIns="0" tIns="0" rIns="0" bIns="0" rtlCol="0" anchor="t">
            <a:normAutofit/>
          </a:bodyPr>
          <a:lstStyle/>
          <a:p>
            <a:pPr algn="l" indent="0" marL="0">
              <a:lnSpc>
                <a:spcPct val="111000"/>
              </a:lnSpc>
              <a:buNone/>
            </a:pPr>
            <a:r>
              <a:rPr lang="en-US" sz="650" dirty="0">
                <a:solidFill>
                  <a:srgbClr val="2B2E3C"/>
                </a:solidFill>
                <a:latin typeface="Open Sans" pitchFamily="34" charset="0"/>
                <a:ea typeface="Open Sans" pitchFamily="34" charset="-122"/>
                <a:cs typeface="Open Sans" pitchFamily="34" charset="-120"/>
              </a:rPr>
              <a:t>State-based transformation model enables responsive editing at full frame rates</a:t>
            </a:r>
            <a:endParaRPr lang="en-US" sz="650" dirty="0"/>
          </a:p>
        </p:txBody>
      </p:sp>
      <p:sp>
        <p:nvSpPr>
          <p:cNvPr id="43" name="Shape 37"/>
          <p:cNvSpPr/>
          <p:nvPr/>
        </p:nvSpPr>
        <p:spPr>
          <a:xfrm>
            <a:off x="4678412" y="2567285"/>
            <a:ext cx="3974232" cy="588318"/>
          </a:xfrm>
          <a:prstGeom prst="roundRect">
            <a:avLst>
              <a:gd name="adj" fmla="val 5950"/>
            </a:avLst>
          </a:prstGeom>
          <a:solidFill>
            <a:srgbClr val="B6FCB8"/>
          </a:solidFill>
          <a:ln/>
        </p:spPr>
      </p:sp>
      <p:pic>
        <p:nvPicPr>
          <p:cNvPr id="44" name="Image 4" descr="preencoded.png">    </p:cNvPr>
          <p:cNvPicPr>
            <a:picLocks noChangeAspect="1"/>
          </p:cNvPicPr>
          <p:nvPr/>
        </p:nvPicPr>
        <p:blipFill>
          <a:blip r:embed="rId9"/>
          <a:stretch>
            <a:fillRect/>
          </a:stretch>
        </p:blipFill>
        <p:spPr>
          <a:xfrm>
            <a:off x="4761756" y="2684264"/>
            <a:ext cx="104180" cy="83344"/>
          </a:xfrm>
          <a:prstGeom prst="rect">
            <a:avLst/>
          </a:prstGeom>
        </p:spPr>
      </p:pic>
      <p:sp>
        <p:nvSpPr>
          <p:cNvPr id="45" name="Text 38"/>
          <p:cNvSpPr/>
          <p:nvPr/>
        </p:nvSpPr>
        <p:spPr>
          <a:xfrm>
            <a:off x="4949279" y="2638499"/>
            <a:ext cx="3620021" cy="445889"/>
          </a:xfrm>
          <a:prstGeom prst="rect">
            <a:avLst/>
          </a:prstGeom>
          <a:noFill/>
          <a:ln/>
        </p:spPr>
        <p:txBody>
          <a:bodyPr wrap="square" lIns="0" tIns="0" rIns="0" bIns="0" rtlCol="0" anchor="t">
            <a:normAutofit/>
          </a:bodyPr>
          <a:lstStyle/>
          <a:p>
            <a:pPr algn="l" indent="0" marL="0">
              <a:lnSpc>
                <a:spcPct val="111000"/>
              </a:lnSpc>
              <a:buNone/>
            </a:pPr>
            <a:r>
              <a:rPr lang="en-US" sz="650" b="1" dirty="0">
                <a:solidFill>
                  <a:srgbClr val="000000"/>
                </a:solidFill>
                <a:latin typeface="Open Sans Bold" pitchFamily="34" charset="0"/>
                <a:ea typeface="Open Sans Bold" pitchFamily="34" charset="-122"/>
                <a:cs typeface="Open Sans Bold" pitchFamily="34" charset="-120"/>
              </a:rPr>
              <a:t>Pipeline Integrity:</a:t>
            </a:r>
            <a:pPr algn="l" indent="0" marL="0">
              <a:lnSpc>
                <a:spcPct val="111000"/>
              </a:lnSpc>
              <a:buNone/>
            </a:pPr>
            <a:r>
              <a:rPr lang="en-US" sz="650" dirty="0">
                <a:solidFill>
                  <a:srgbClr val="000000"/>
                </a:solidFill>
                <a:latin typeface="Open Sans" pitchFamily="34" charset="0"/>
                <a:ea typeface="Open Sans" pitchFamily="34" charset="-122"/>
                <a:cs typeface="Open Sans" pitchFamily="34" charset="-120"/>
              </a:rPr>
              <a:t> From raw scene input to final rendered output, every stage maintains data fidelity. No Gaussian attribute is lost, approximated, or reconstructed — the edited scene is mathematically equivalent to the original with only the intended transformations applied.</a:t>
            </a:r>
            <a:endParaRPr lang="en-US" sz="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96119" y="847799"/>
            <a:ext cx="8151763" cy="775097"/>
          </a:xfrm>
          <a:prstGeom prst="rect">
            <a:avLst/>
          </a:prstGeom>
          <a:noFill/>
          <a:ln/>
        </p:spPr>
        <p:txBody>
          <a:bodyPr wrap="square" lIns="0" tIns="0" rIns="0" bIns="0" rtlCol="0" anchor="t">
            <a:normAutofit/>
          </a:bodyPr>
          <a:lstStyle/>
          <a:p>
            <a:pPr algn="ctr" indent="0" marL="0">
              <a:lnSpc>
                <a:spcPct val="104000"/>
              </a:lnSpc>
              <a:buNone/>
            </a:pPr>
            <a:r>
              <a:rPr lang="en-US" sz="2400" dirty="0">
                <a:solidFill>
                  <a:srgbClr val="2C3F42"/>
                </a:solidFill>
                <a:latin typeface="Bitter Medium" pitchFamily="34" charset="0"/>
                <a:ea typeface="Bitter Medium" pitchFamily="34" charset="-122"/>
                <a:cs typeface="Bitter Medium" pitchFamily="34" charset="-120"/>
              </a:rPr>
              <a:t>Conclusion</a:t>
            </a:r>
            <a:endParaRPr lang="en-US" sz="2400" dirty="0"/>
          </a:p>
          <a:p>
            <a:pPr algn="ctr" indent="0" marL="0">
              <a:lnSpc>
                <a:spcPct val="104000"/>
              </a:lnSpc>
              <a:buNone/>
            </a:pPr>
            <a:r>
              <a:rPr lang="en-US" sz="2400" dirty="0">
                <a:solidFill>
                  <a:srgbClr val="2C3F42"/>
                </a:solidFill>
                <a:latin typeface="Bitter Medium" pitchFamily="34" charset="0"/>
                <a:ea typeface="Bitter Medium" pitchFamily="34" charset="-122"/>
                <a:cs typeface="Bitter Medium" pitchFamily="34" charset="-120"/>
              </a:rPr>
              <a:t> Revolutionizing 3D Editing</a:t>
            </a:r>
            <a:endParaRPr lang="en-US" sz="2400" dirty="0"/>
          </a:p>
        </p:txBody>
      </p:sp>
      <p:sp>
        <p:nvSpPr>
          <p:cNvPr id="3" name="Text 1"/>
          <p:cNvSpPr/>
          <p:nvPr/>
        </p:nvSpPr>
        <p:spPr>
          <a:xfrm>
            <a:off x="496119" y="1808931"/>
            <a:ext cx="8151763" cy="1069777"/>
          </a:xfrm>
          <a:prstGeom prst="rect">
            <a:avLst/>
          </a:prstGeom>
          <a:noFill/>
          <a:ln/>
        </p:spPr>
        <p:txBody>
          <a:bodyPr wrap="square" lIns="0" tIns="0" rIns="0" bIns="0" rtlCol="0" anchor="t">
            <a:normAutofit/>
          </a:bodyPr>
          <a:lstStyle/>
          <a:p>
            <a:pPr algn="ctr" indent="0" marL="0">
              <a:lnSpc>
                <a:spcPct val="104000"/>
              </a:lnSpc>
              <a:buNone/>
            </a:pPr>
            <a:r>
              <a:rPr lang="en-US" sz="3350" dirty="0">
                <a:solidFill>
                  <a:srgbClr val="2C3F42"/>
                </a:solidFill>
                <a:latin typeface="Bitter Medium" pitchFamily="34" charset="0"/>
                <a:ea typeface="Bitter Medium" pitchFamily="34" charset="-122"/>
                <a:cs typeface="Bitter Medium" pitchFamily="34" charset="-120"/>
              </a:rPr>
              <a:t>Transform your vision into reality with unparalleled fidelity and control.</a:t>
            </a:r>
            <a:endParaRPr lang="en-US" sz="3350" dirty="0"/>
          </a:p>
        </p:txBody>
      </p:sp>
      <p:sp>
        <p:nvSpPr>
          <p:cNvPr id="4" name="Text 2"/>
          <p:cNvSpPr/>
          <p:nvPr/>
        </p:nvSpPr>
        <p:spPr>
          <a:xfrm>
            <a:off x="496119" y="3064743"/>
            <a:ext cx="8151763" cy="595387"/>
          </a:xfrm>
          <a:prstGeom prst="rect">
            <a:avLst/>
          </a:prstGeom>
          <a:noFill/>
          <a:ln/>
        </p:spPr>
        <p:txBody>
          <a:bodyPr wrap="square" lIns="0" tIns="0" rIns="0" bIns="0" rtlCol="0" anchor="t">
            <a:normAutofit/>
          </a:bodyPr>
          <a:lstStyle/>
          <a:p>
            <a:pPr algn="ctr" indent="0" marL="0">
              <a:lnSpc>
                <a:spcPct val="133000"/>
              </a:lnSpc>
              <a:buNone/>
            </a:pPr>
            <a:r>
              <a:rPr lang="en-US" sz="950" dirty="0">
                <a:solidFill>
                  <a:srgbClr val="2B2E3C"/>
                </a:solidFill>
                <a:latin typeface="Open Sans" pitchFamily="34" charset="0"/>
                <a:ea typeface="Open Sans" pitchFamily="34" charset="-122"/>
                <a:cs typeface="Open Sans" pitchFamily="34" charset="-120"/>
              </a:rPr>
              <a:t>Our comprehensive pipeline empowers users to manipulate complex Gaussian Splat scenes interactively, from intelligent object segmentation to non-destructive transformations and standards-compliant export. This system ensures creative freedom without compromising on quality or performance.</a:t>
            </a:r>
            <a:endParaRPr lang="en-US" sz="950" dirty="0"/>
          </a:p>
        </p:txBody>
      </p:sp>
      <p:sp>
        <p:nvSpPr>
          <p:cNvPr id="5" name="Shape 3"/>
          <p:cNvSpPr/>
          <p:nvPr/>
        </p:nvSpPr>
        <p:spPr>
          <a:xfrm>
            <a:off x="496119" y="3799656"/>
            <a:ext cx="8151763" cy="495970"/>
          </a:xfrm>
          <a:prstGeom prst="roundRect">
            <a:avLst>
              <a:gd name="adj" fmla="val 10505"/>
            </a:avLst>
          </a:prstGeom>
          <a:solidFill>
            <a:srgbClr val="FCE2CF"/>
          </a:solidFill>
          <a:ln/>
        </p:spPr>
      </p:sp>
      <p:pic>
        <p:nvPicPr>
          <p:cNvPr id="6" name="Image 0" descr="preencoded.png">    </p:cNvPr>
          <p:cNvPicPr>
            <a:picLocks noChangeAspect="1"/>
          </p:cNvPicPr>
          <p:nvPr/>
        </p:nvPicPr>
        <p:blipFill>
          <a:blip r:embed="rId1"/>
          <a:stretch>
            <a:fillRect/>
          </a:stretch>
        </p:blipFill>
        <p:spPr>
          <a:xfrm>
            <a:off x="620092" y="3979441"/>
            <a:ext cx="155004" cy="123974"/>
          </a:xfrm>
          <a:prstGeom prst="rect">
            <a:avLst/>
          </a:prstGeom>
        </p:spPr>
      </p:pic>
      <p:sp>
        <p:nvSpPr>
          <p:cNvPr id="7" name="Text 4"/>
          <p:cNvSpPr/>
          <p:nvPr/>
        </p:nvSpPr>
        <p:spPr>
          <a:xfrm>
            <a:off x="899071" y="3954587"/>
            <a:ext cx="8082037" cy="198462"/>
          </a:xfrm>
          <a:prstGeom prst="rect">
            <a:avLst/>
          </a:prstGeom>
          <a:noFill/>
          <a:ln/>
        </p:spPr>
        <p:txBody>
          <a:bodyPr wrap="none" lIns="0" tIns="0" rIns="0" bIns="0" rtlCol="0" anchor="t"/>
          <a:lstStyle/>
          <a:p>
            <a:pPr algn="l" indent="0" marL="0">
              <a:lnSpc>
                <a:spcPct val="133000"/>
              </a:lnSpc>
              <a:buNone/>
            </a:pPr>
            <a:r>
              <a:rPr lang="en-US" sz="950" dirty="0">
                <a:solidFill>
                  <a:srgbClr val="000000"/>
                </a:solidFill>
                <a:latin typeface="Open Sans" pitchFamily="34" charset="0"/>
                <a:ea typeface="Open Sans" pitchFamily="34" charset="-122"/>
                <a:cs typeface="Open Sans" pitchFamily="34" charset="-120"/>
              </a:rPr>
              <a:t>The 3D Gaussian Splat Scene Editing Pipeline sets a new benchmark for precision, speed, and integrity in digital content creation.</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96119" y="1126034"/>
            <a:ext cx="8151763" cy="387548"/>
          </a:xfrm>
          <a:prstGeom prst="rect">
            <a:avLst/>
          </a:prstGeom>
          <a:noFill/>
          <a:ln/>
        </p:spPr>
        <p:txBody>
          <a:bodyPr wrap="none" lIns="0" tIns="0" rIns="0" bIns="0" rtlCol="0" anchor="t"/>
          <a:lstStyle/>
          <a:p>
            <a:pPr algn="ctr" indent="0" marL="0">
              <a:lnSpc>
                <a:spcPct val="104000"/>
              </a:lnSpc>
              <a:buNone/>
            </a:pPr>
            <a:r>
              <a:rPr lang="en-US" sz="2400" dirty="0">
                <a:solidFill>
                  <a:srgbClr val="2C3F42"/>
                </a:solidFill>
                <a:latin typeface="Bitter Medium" pitchFamily="34" charset="0"/>
                <a:ea typeface="Bitter Medium" pitchFamily="34" charset="-122"/>
                <a:cs typeface="Bitter Medium" pitchFamily="34" charset="-120"/>
              </a:rPr>
              <a:t>Thank You</a:t>
            </a:r>
            <a:endParaRPr lang="en-US" sz="2400" dirty="0"/>
          </a:p>
        </p:txBody>
      </p:sp>
      <p:sp>
        <p:nvSpPr>
          <p:cNvPr id="3" name="Text 1"/>
          <p:cNvSpPr/>
          <p:nvPr/>
        </p:nvSpPr>
        <p:spPr>
          <a:xfrm>
            <a:off x="496119" y="1699617"/>
            <a:ext cx="8151763" cy="534888"/>
          </a:xfrm>
          <a:prstGeom prst="rect">
            <a:avLst/>
          </a:prstGeom>
          <a:noFill/>
          <a:ln/>
        </p:spPr>
        <p:txBody>
          <a:bodyPr wrap="none" lIns="0" tIns="0" rIns="0" bIns="0" rtlCol="0" anchor="t"/>
          <a:lstStyle/>
          <a:p>
            <a:pPr algn="ctr" indent="0" marL="0">
              <a:lnSpc>
                <a:spcPct val="104000"/>
              </a:lnSpc>
              <a:buNone/>
            </a:pPr>
            <a:r>
              <a:rPr lang="en-US" sz="3350" dirty="0">
                <a:solidFill>
                  <a:srgbClr val="2C3F42"/>
                </a:solidFill>
                <a:latin typeface="Bitter Medium" pitchFamily="34" charset="0"/>
                <a:ea typeface="Bitter Medium" pitchFamily="34" charset="-122"/>
                <a:cs typeface="Bitter Medium" pitchFamily="34" charset="-120"/>
              </a:rPr>
              <a:t>For your attention and engagement.</a:t>
            </a:r>
            <a:endParaRPr lang="en-US" sz="3350" dirty="0"/>
          </a:p>
        </p:txBody>
      </p:sp>
      <p:sp>
        <p:nvSpPr>
          <p:cNvPr id="4" name="Text 2"/>
          <p:cNvSpPr/>
          <p:nvPr/>
        </p:nvSpPr>
        <p:spPr>
          <a:xfrm>
            <a:off x="267519" y="2420541"/>
            <a:ext cx="8608963" cy="198462"/>
          </a:xfrm>
          <a:prstGeom prst="rect">
            <a:avLst/>
          </a:prstGeom>
          <a:noFill/>
          <a:ln/>
        </p:spPr>
        <p:txBody>
          <a:bodyPr wrap="none" lIns="0" tIns="0" rIns="0" bIns="0" rtlCol="0" anchor="t"/>
          <a:lstStyle/>
          <a:p>
            <a:pPr algn="ctr" indent="0" marL="0">
              <a:lnSpc>
                <a:spcPct val="133000"/>
              </a:lnSpc>
              <a:buNone/>
            </a:pPr>
            <a:r>
              <a:rPr lang="en-US" sz="950" dirty="0">
                <a:solidFill>
                  <a:srgbClr val="2B2E3C"/>
                </a:solidFill>
                <a:latin typeface="Open Sans" pitchFamily="34" charset="0"/>
                <a:ea typeface="Open Sans" pitchFamily="34" charset="-122"/>
                <a:cs typeface="Open Sans" pitchFamily="34" charset="-120"/>
              </a:rPr>
              <a:t>We greatly appreciate your time and interest in our 3D Gaussian Splat Scene Editing Pipeline.</a:t>
            </a:r>
            <a:endParaRPr lang="en-US" sz="950" dirty="0"/>
          </a:p>
        </p:txBody>
      </p:sp>
      <p:sp>
        <p:nvSpPr>
          <p:cNvPr id="5" name="Text 3"/>
          <p:cNvSpPr/>
          <p:nvPr/>
        </p:nvSpPr>
        <p:spPr>
          <a:xfrm>
            <a:off x="496119" y="2805038"/>
            <a:ext cx="8151763" cy="232544"/>
          </a:xfrm>
          <a:prstGeom prst="rect">
            <a:avLst/>
          </a:prstGeom>
          <a:noFill/>
          <a:ln/>
        </p:spPr>
        <p:txBody>
          <a:bodyPr wrap="none" lIns="0" tIns="0" rIns="0" bIns="0" rtlCol="0" anchor="t"/>
          <a:lstStyle/>
          <a:p>
            <a:pPr algn="ctr" indent="0" marL="0">
              <a:lnSpc>
                <a:spcPct val="104000"/>
              </a:lnSpc>
              <a:buNone/>
            </a:pPr>
            <a:r>
              <a:rPr lang="en-US" sz="1450" dirty="0">
                <a:solidFill>
                  <a:srgbClr val="2C3F42"/>
                </a:solidFill>
                <a:latin typeface="Bitter Medium" pitchFamily="34" charset="0"/>
                <a:ea typeface="Bitter Medium" pitchFamily="34" charset="-122"/>
                <a:cs typeface="Bitter Medium" pitchFamily="34" charset="-120"/>
              </a:rPr>
              <a:t>Our Team</a:t>
            </a:r>
            <a:endParaRPr lang="en-US" sz="1450" dirty="0"/>
          </a:p>
        </p:txBody>
      </p:sp>
      <p:sp>
        <p:nvSpPr>
          <p:cNvPr id="6" name="Text 4"/>
          <p:cNvSpPr/>
          <p:nvPr/>
        </p:nvSpPr>
        <p:spPr>
          <a:xfrm>
            <a:off x="496119" y="3223617"/>
            <a:ext cx="8151763" cy="793849"/>
          </a:xfrm>
          <a:prstGeom prst="rect">
            <a:avLst/>
          </a:prstGeom>
          <a:noFill/>
          <a:ln/>
        </p:spPr>
        <p:txBody>
          <a:bodyPr wrap="square" lIns="0" tIns="0" rIns="0" bIns="0" rtlCol="0" anchor="t">
            <a:normAutofit/>
          </a:bodyPr>
          <a:lstStyle/>
          <a:p>
            <a:pPr algn="ctr" indent="0" marL="0">
              <a:lnSpc>
                <a:spcPct val="133000"/>
              </a:lnSpc>
              <a:buNone/>
            </a:pPr>
            <a:r>
              <a:rPr lang="en-US" sz="950" dirty="0">
                <a:solidFill>
                  <a:srgbClr val="2B2E3C"/>
                </a:solidFill>
                <a:latin typeface="Open Sans" pitchFamily="34" charset="0"/>
                <a:ea typeface="Open Sans" pitchFamily="34" charset="-122"/>
                <a:cs typeface="Open Sans" pitchFamily="34" charset="-120"/>
              </a:rPr>
              <a:t>Pulla Jagadeeshwar Reddy</a:t>
            </a:r>
            <a:endParaRPr lang="en-US" sz="950" dirty="0"/>
          </a:p>
          <a:p>
            <a:pPr algn="ctr" indent="0" marL="0">
              <a:lnSpc>
                <a:spcPct val="133000"/>
              </a:lnSpc>
              <a:buNone/>
            </a:pPr>
            <a:r>
              <a:rPr lang="en-US" sz="950" dirty="0">
                <a:solidFill>
                  <a:srgbClr val="2B2E3C"/>
                </a:solidFill>
                <a:latin typeface="Open Sans" pitchFamily="34" charset="0"/>
                <a:ea typeface="Open Sans" pitchFamily="34" charset="-122"/>
                <a:cs typeface="Open Sans" pitchFamily="34" charset="-120"/>
              </a:rPr>
              <a:t>Rushil Singh Arora</a:t>
            </a:r>
            <a:endParaRPr lang="en-US" sz="950" dirty="0"/>
          </a:p>
          <a:p>
            <a:pPr algn="ctr" indent="0" marL="0">
              <a:lnSpc>
                <a:spcPct val="133000"/>
              </a:lnSpc>
              <a:buNone/>
            </a:pPr>
            <a:r>
              <a:rPr lang="en-US" sz="950" dirty="0">
                <a:solidFill>
                  <a:srgbClr val="2B2E3C"/>
                </a:solidFill>
                <a:latin typeface="Open Sans" pitchFamily="34" charset="0"/>
                <a:ea typeface="Open Sans" pitchFamily="34" charset="-122"/>
                <a:cs typeface="Open Sans" pitchFamily="34" charset="-120"/>
              </a:rPr>
              <a:t>Chetana V Iyer</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2026-07-09T00:36:56Z</dcterms:created>
  <dcterms:modified xsi:type="dcterms:W3CDTF">2026-07-09T00:36:56Z</dcterms:modified>
</cp:coreProperties>
</file>